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perkenalkan saya Mourin Aulia Renata. Presentasi ini membahas pengembangan SIMProKon, yaitu Sistem Informasi Manajemen Proyek Konstruksi yang dirancang untuk PT Bangun Cipta Nusantara. Studi kasus yang digunakan adalah proyek pembangunan Nusantara Green Tower &amp; Residence, gedung 25 lantai yang menggabungkan fungsi perkantoran dan apartemen. Sepanjang presentasi ini, saya akan menjelaskan mulai dari latar belakang masalah, perencanaan proyek, hingga strategi penutupan dan pemeliharaan sistem.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PT Bangun Cipta Nusantara mengelola lebih dari lima belas proyek konstruksi setiap tahun secara bersamaan. Karena skalanya yang besar, koordinasi antar divisi menjadi tantangan tersendiri. Saat ini perusahaan masih bergantung pada spreadsheet, email, dan WhatsApp yang tidak terintegrasi, sehingga muncul empat masalah utama: data yang tidak konsisten antardivisi, pelaporan progres yang lambat, rendahnya visibilitas terhadap material di lapangan, dan pengambilan keputusan manajemen yang menjadi kurang responsif. Kondisi inilah yang melatarbelakangi kebutuhan akan sistem informasi manajemen proyek yang terintegrasi.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Charter menetapkan SIMProKon sebagai proyek dengan sponsor Direktur Utama, anggaran awal Rp2,5 miliar, dan estimasi durasi 24 minggu atau enam bulan. Tujuannya selaras dengan visi perusahaan untuk menjadi kontraktor terdepan melalui inovasi teknologi. Ruang lingkupnya mencakup tujuh modul utama, mulai dari manajemen proyek, keuangan, logistik, SDM, dashboard eksekutif, aplikasi mobile untuk site manager, hingga integrasi dengan sistem akuntansi SAP. Sistem ini akan diuji langsung pada proyek Nusantara Green Tower &amp; Residence yang memiliki dua fungsi bangunan berbeda dalam satu struktur, sehingga menjadi studi kasus yang representatif.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Agar ruang lingkup tetap terkendali, beberapa hal secara eksplisit tidak dikerjakan, seperti otomatisasi alat berat berbasis IoT, BIM 3D penuh, dan portal untuk klien eksternal. Di sisi lain, ada empat faktor kunci keberhasilan yang menentukan apakah SIMProKon bisa berhasil diimplementasikan: dukungan manajemen puncak, kompetensi tim, kelengkapan data master, dan tingkat adopsi pengguna lapangan yang ditargetkan minimal 80% pada bulan pertama setelah go-live. Manajer proyek juga diberi wewenang terbatas, misalnya realokasi anggaran hingga 10% tanpa perlu persetujuan sponsor.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delapan pemangku kepentingan yang dipetakan ke dalam power/interest grid. Direktur Utama dan Manajer Proyek berada di kuadran manage closely karena pengaruh dan kepentingannya paling tinggi, sehingga dikelola lewat laporan mingguan dan steering committee bulanan. Site manager, manajer konstruksi, dan tim TI internal masuk kuadran keep informed karena kepentingannya tinggi walau kewenangannya terbatas. Di sisi kanan, struktur rincian kerja atau WBS membagi proyek menjadi tujuh deliverable utama, mulai dari manajemen proyek hingga pelatihan dan implementasi, yang masing-masing diuraikan lagi menjadi paket-paket kerja yang lebih rinci.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Metodologi Waterfall dipilih karena kebutuhan sistem sudah cukup baku mengikuti prosedur konstruksi yang ada, budaya dokumentasi perusahaan sangat kuat untuk kepentingan audit, dan tim internal belum terbiasa dengan Agile. Berdasarkan perhitungan Critical Path Method, jalur kritis proyek ini membutuhkan 96 hari kerja atau sekitar 16 minggu, masih di bawah alokasi 24 minggu sehingga ada buffer sekitar 8 minggu untuk mengantisipasi risiko. Beberapa aktivitas pengembangan modul, seperti logistik, SDM, dashboard, dan mobile app, memiliki float atau waktu longgar yang bisa dimanfaatkan tanpa memengaruhi jadwal keseluruhan proyek.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risiko utama diidentifikasi dalam risk register. Perubahan requirement mendadak dan kebocoran data sensitif termasuk kategori risiko tinggi, sedangkan keterlambatan pengadaan server cloud dan resistensi pengguna lapangan berada di kategori sedang. Untuk mengantisipasi risiko-risiko ini, proyek mengalokasikan anggaran kontingensi sebesar 12% dari total anggaran, atau sekitar Rp300 juta. Angka ini berada di tengah rentang yang direkomendasikan PMBOK, yaitu 5 hingga 15%, mengingat kompleksitas integrasi antarmodul dan ketergantungan pada vendor infrastruktur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Dari sisi finansial, SIMProKon diproyeksikan menghasilkan manfaat sekitar Rp950 juta per tahun, yang berasal dari tiga komponen: penghematan biaya administrasi, penurunan potensi denda keterlambatan proyek, dan penghematan biaya material sebesar 3%. Selain manfaat finansial, ada juga manfaat tidak nyata seperti peningkatan kualitas informasi dan integrasi proses bisnis antardivisi. Analisis ini mengacu pada penelitian terdahulu yang membuktikan efektivitas sistem serupa pada perusahaan kontraktor lain, sehingga memperkuat kelayakan investasi pengembangan sistem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Sistem diimplementasikan secara bertahap atau phased, dimulai dari modul keuangan, kemudian logistik, dan modul lainnya, dengan dukungan teknis selama dua minggu setelah setiap fase go-live. Untuk memantau kinerja proyek, digunakan Earned Value Management. Nilai TCPI terhadap anggaran awal sebesar 1,046 menunjukkan tim perlu bekerja hampir seefisien mungkin untuk mencapai target biaya semula. Sementara itu, jika mengacu pada estimasi biaya akhir yang sudah direvisi, target efisiensinya turun menjadi 0,833, yang berarti masih realistis dicapai dengan performa tim saat ini. Tiga formula estimasi biaya akhir juga dihitung untuk memberi gambaran skenario proyeksi biaya yang berbeda-beda.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proyek ini memiliki checklist penutupan yang mencakup empat kategori: administratif, teknis, finansial, dan SDM, termasuk sesi lessons learned bersama tim. Setelah go-live, sistem akan didukung oleh rencana pemeliharaan dengan target waktu respons berbeda untuk isu kritis, mayor, dan minor, dengan estimasi biaya pemeliharaan tahunan sebesar 15% dari anggaran atau sekitar Rp375 juta. Secara keseluruhan, SIMProKon dirancang secara menyeluruh mulai dari perencanaan hingga pengendalian risiko dan biaya, sehingga diharapkan dapat mendukung tata kelola proyek konstruksi PT Bangun Cipta Nusantara secara lebih terintegrasi, transparan, dan akurat. Terima kasih.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4"/>
        </a:solidFill>
      </p:bgPr>
    </p:bg>
    <p:spTree>
      <p:nvGrpSpPr>
        <p:cNvPr id="1" name=""/>
        <p:cNvGrpSpPr/>
        <p:nvPr/>
      </p:nvGrpSpPr>
      <p:grpSpPr>
        <a:xfrm>
          <a:off x="0" y="0"/>
          <a:ext cx="0" cy="0"/>
          <a:chOff x="0" y="0"/>
          <a:chExt cx="0" cy="0"/>
        </a:xfrm>
      </p:grpSpPr>
      <p:sp>
        <p:nvSpPr>
          <p:cNvPr id="2" name="Shape 0"/>
          <p:cNvSpPr/>
          <p:nvPr/>
        </p:nvSpPr>
        <p:spPr>
          <a:xfrm>
            <a:off x="8503920" y="0"/>
            <a:ext cx="3685032" cy="6858000"/>
          </a:xfrm>
          <a:prstGeom prst="rect">
            <a:avLst/>
          </a:prstGeom>
          <a:solidFill>
            <a:srgbClr val="1B3A5C"/>
          </a:solidFill>
          <a:ln/>
        </p:spPr>
      </p:sp>
      <p:sp>
        <p:nvSpPr>
          <p:cNvPr id="3" name="Shape 1"/>
          <p:cNvSpPr/>
          <p:nvPr/>
        </p:nvSpPr>
        <p:spPr>
          <a:xfrm>
            <a:off x="8869680" y="5303520"/>
            <a:ext cx="457200" cy="1097280"/>
          </a:xfrm>
          <a:prstGeom prst="rect">
            <a:avLst/>
          </a:prstGeom>
          <a:solidFill>
            <a:srgbClr val="5A6B7A">
              <a:alpha val="45000"/>
            </a:srgbClr>
          </a:solidFill>
          <a:ln/>
        </p:spPr>
      </p:sp>
      <p:sp>
        <p:nvSpPr>
          <p:cNvPr id="4" name="Shape 2"/>
          <p:cNvSpPr/>
          <p:nvPr/>
        </p:nvSpPr>
        <p:spPr>
          <a:xfrm>
            <a:off x="9528048" y="4480560"/>
            <a:ext cx="576072" cy="1920240"/>
          </a:xfrm>
          <a:prstGeom prst="rect">
            <a:avLst/>
          </a:prstGeom>
          <a:solidFill>
            <a:srgbClr val="E8912D">
              <a:alpha val="75000"/>
            </a:srgbClr>
          </a:solidFill>
          <a:ln/>
        </p:spPr>
      </p:sp>
      <p:sp>
        <p:nvSpPr>
          <p:cNvPr id="5" name="Shape 3"/>
          <p:cNvSpPr/>
          <p:nvPr/>
        </p:nvSpPr>
        <p:spPr>
          <a:xfrm>
            <a:off x="10186416" y="3657600"/>
            <a:ext cx="694944" cy="2743200"/>
          </a:xfrm>
          <a:prstGeom prst="rect">
            <a:avLst/>
          </a:prstGeom>
          <a:solidFill>
            <a:srgbClr val="5A6B7A">
              <a:alpha val="45000"/>
            </a:srgbClr>
          </a:solidFill>
          <a:ln/>
        </p:spPr>
      </p:sp>
      <p:sp>
        <p:nvSpPr>
          <p:cNvPr id="6" name="Shape 4"/>
          <p:cNvSpPr/>
          <p:nvPr/>
        </p:nvSpPr>
        <p:spPr>
          <a:xfrm>
            <a:off x="10844784" y="2834640"/>
            <a:ext cx="813816" cy="3566160"/>
          </a:xfrm>
          <a:prstGeom prst="rect">
            <a:avLst/>
          </a:prstGeom>
          <a:solidFill>
            <a:srgbClr val="E8912D">
              <a:alpha val="75000"/>
            </a:srgbClr>
          </a:solidFill>
          <a:ln/>
        </p:spPr>
      </p:sp>
      <p:sp>
        <p:nvSpPr>
          <p:cNvPr id="7" name="Shape 5"/>
          <p:cNvSpPr/>
          <p:nvPr/>
        </p:nvSpPr>
        <p:spPr>
          <a:xfrm>
            <a:off x="11503152" y="2011680"/>
            <a:ext cx="932688" cy="4389120"/>
          </a:xfrm>
          <a:prstGeom prst="rect">
            <a:avLst/>
          </a:prstGeom>
          <a:solidFill>
            <a:srgbClr val="5A6B7A">
              <a:alpha val="45000"/>
            </a:srgbClr>
          </a:solidFill>
          <a:ln/>
        </p:spPr>
      </p:sp>
      <p:sp>
        <p:nvSpPr>
          <p:cNvPr id="8" name="Text 6"/>
          <p:cNvSpPr/>
          <p:nvPr/>
        </p:nvSpPr>
        <p:spPr>
          <a:xfrm>
            <a:off x="640080" y="640080"/>
            <a:ext cx="5486400" cy="457200"/>
          </a:xfrm>
          <a:prstGeom prst="rect">
            <a:avLst/>
          </a:prstGeom>
          <a:noFill/>
          <a:ln/>
        </p:spPr>
        <p:txBody>
          <a:bodyPr wrap="square" rtlCol="0" anchor="ctr"/>
          <a:lstStyle/>
          <a:p>
            <a:pPr indent="0" marL="0">
              <a:buNone/>
            </a:pPr>
            <a:r>
              <a:rPr lang="en-US" sz="1400" b="1" spc="200" kern="0" dirty="0">
                <a:solidFill>
                  <a:srgbClr val="E8912D"/>
                </a:solidFill>
                <a:latin typeface="Calibri" pitchFamily="34" charset="0"/>
                <a:ea typeface="Calibri" pitchFamily="34" charset="-122"/>
                <a:cs typeface="Calibri" pitchFamily="34" charset="-120"/>
              </a:rPr>
              <a:t>SIMProKon</a:t>
            </a:r>
            <a:endParaRPr lang="en-US" sz="1400" dirty="0"/>
          </a:p>
        </p:txBody>
      </p:sp>
      <p:sp>
        <p:nvSpPr>
          <p:cNvPr id="9" name="Text 7"/>
          <p:cNvSpPr/>
          <p:nvPr/>
        </p:nvSpPr>
        <p:spPr>
          <a:xfrm>
            <a:off x="640080" y="1920240"/>
            <a:ext cx="7498080" cy="201168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SISTEM MANAJEMEN PROYEK</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PERUSAHAAN KONSTRUKSI</a:t>
            </a:r>
            <a:endParaRPr lang="en-US" sz="4000" dirty="0"/>
          </a:p>
        </p:txBody>
      </p:sp>
      <p:sp>
        <p:nvSpPr>
          <p:cNvPr id="10" name="Text 8"/>
          <p:cNvSpPr/>
          <p:nvPr/>
        </p:nvSpPr>
        <p:spPr>
          <a:xfrm>
            <a:off x="640080" y="3977640"/>
            <a:ext cx="6949440" cy="822960"/>
          </a:xfrm>
          <a:prstGeom prst="rect">
            <a:avLst/>
          </a:prstGeom>
          <a:noFill/>
          <a:ln/>
        </p:spPr>
        <p:txBody>
          <a:bodyPr wrap="square" rtlCol="0" anchor="ctr"/>
          <a:lstStyle/>
          <a:p>
            <a:pPr indent="0" marL="0">
              <a:buNone/>
            </a:pPr>
            <a:r>
              <a:rPr lang="en-US" sz="1350" i="1" dirty="0">
                <a:solidFill>
                  <a:srgbClr val="C9D4DD"/>
                </a:solidFill>
                <a:latin typeface="Calibri" pitchFamily="34" charset="0"/>
                <a:ea typeface="Calibri" pitchFamily="34" charset="-122"/>
                <a:cs typeface="Calibri" pitchFamily="34" charset="-120"/>
              </a:rPr>
              <a:t>Studi Kasus Pengembangan Sistem Informasi Manajemen Proyek Konstruksi (SIMProKon)</a:t>
            </a:r>
            <a:endParaRPr lang="en-US" sz="1350" dirty="0"/>
          </a:p>
          <a:p>
            <a:pPr indent="0" marL="0">
              <a:buNone/>
            </a:pPr>
            <a:r>
              <a:rPr lang="en-US" sz="1350" i="1" dirty="0">
                <a:solidFill>
                  <a:srgbClr val="C9D4DD"/>
                </a:solidFill>
                <a:latin typeface="Calibri" pitchFamily="34" charset="0"/>
                <a:ea typeface="Calibri" pitchFamily="34" charset="-122"/>
                <a:cs typeface="Calibri" pitchFamily="34" charset="-120"/>
              </a:rPr>
              <a:t>pada Proyek Nusantara Green Tower &amp; Residence — PT Bangun Cipta Nusantara</a:t>
            </a:r>
            <a:endParaRPr lang="en-US" sz="1350" dirty="0"/>
          </a:p>
        </p:txBody>
      </p:sp>
      <p:sp>
        <p:nvSpPr>
          <p:cNvPr id="11" name="Shape 9"/>
          <p:cNvSpPr/>
          <p:nvPr/>
        </p:nvSpPr>
        <p:spPr>
          <a:xfrm>
            <a:off x="640080" y="5074920"/>
            <a:ext cx="2011680" cy="0"/>
          </a:xfrm>
          <a:prstGeom prst="line">
            <a:avLst/>
          </a:prstGeom>
          <a:noFill/>
          <a:ln w="25400">
            <a:solidFill>
              <a:srgbClr val="E8912D"/>
            </a:solidFill>
            <a:prstDash val="solid"/>
          </a:ln>
        </p:spPr>
      </p:sp>
      <p:sp>
        <p:nvSpPr>
          <p:cNvPr id="12" name="Text 10"/>
          <p:cNvSpPr/>
          <p:nvPr/>
        </p:nvSpPr>
        <p:spPr>
          <a:xfrm>
            <a:off x="640080" y="5257800"/>
            <a:ext cx="7315200" cy="1463040"/>
          </a:xfrm>
          <a:prstGeom prst="rect">
            <a:avLst/>
          </a:prstGeom>
          <a:noFill/>
          <a:ln/>
        </p:spPr>
        <p:txBody>
          <a:bodyPr wrap="square" rtlCol="0" anchor="ctr"/>
          <a:lstStyle/>
          <a:p>
            <a:pPr indent="0" marL="0">
              <a:lnSpc>
                <a:spcPts val="1800"/>
              </a:lnSpc>
              <a:buNone/>
            </a:pPr>
            <a:r>
              <a:rPr lang="en-US" sz="1250" b="1" dirty="0">
                <a:solidFill>
                  <a:srgbClr val="FFFFFF"/>
                </a:solidFill>
                <a:latin typeface="Calibri" pitchFamily="34" charset="0"/>
                <a:ea typeface="Calibri" pitchFamily="34" charset="-122"/>
                <a:cs typeface="Calibri" pitchFamily="34" charset="-120"/>
              </a:rPr>
              <a:t>Ujian Akhir Semester — Manajemen Proyek Sistem Informasi
</a:t>
            </a:r>
            <a:pPr indent="0" marL="0">
              <a:lnSpc>
                <a:spcPts val="1800"/>
              </a:lnSpc>
              <a:buNone/>
            </a:pPr>
            <a:r>
              <a:rPr lang="en-US" sz="1250" dirty="0">
                <a:solidFill>
                  <a:srgbClr val="C9D4DD"/>
                </a:solidFill>
                <a:latin typeface="Calibri" pitchFamily="34" charset="0"/>
                <a:ea typeface="Calibri" pitchFamily="34" charset="-122"/>
                <a:cs typeface="Calibri" pitchFamily="34" charset="-120"/>
              </a:rPr>
              <a:t>Mourin Aulia Renata  •  NIM 20240803028
</a:t>
            </a:r>
            <a:pPr indent="0" marL="0">
              <a:lnSpc>
                <a:spcPts val="1800"/>
              </a:lnSpc>
              <a:buNone/>
            </a:pPr>
            <a:r>
              <a:rPr lang="en-US" sz="1250" dirty="0">
                <a:solidFill>
                  <a:srgbClr val="C9D4DD"/>
                </a:solidFill>
                <a:latin typeface="Calibri" pitchFamily="34" charset="0"/>
                <a:ea typeface="Calibri" pitchFamily="34" charset="-122"/>
                <a:cs typeface="Calibri" pitchFamily="34" charset="-120"/>
              </a:rPr>
              <a:t>Dosen Pengampu: Jefry Sunupurwa Asri, S.Kom., M.Kom.
</a:t>
            </a:r>
            <a:pPr indent="0" marL="0">
              <a:lnSpc>
                <a:spcPts val="1800"/>
              </a:lnSpc>
              <a:buNone/>
            </a:pPr>
            <a:r>
              <a:rPr lang="en-US" sz="1250" dirty="0">
                <a:solidFill>
                  <a:srgbClr val="C9D4DD"/>
                </a:solidFill>
                <a:latin typeface="Calibri" pitchFamily="34" charset="0"/>
                <a:ea typeface="Calibri" pitchFamily="34" charset="-122"/>
                <a:cs typeface="Calibri" pitchFamily="34" charset="-120"/>
              </a:rPr>
              <a:t>Fakultas Ilmu Komputer — Program Studi Sistem Informasi</a:t>
            </a:r>
            <a:endParaRPr lang="en-US" sz="1250" dirty="0"/>
          </a:p>
          <a:p>
            <a:pPr indent="0" marL="0">
              <a:lnSpc>
                <a:spcPts val="1800"/>
              </a:lnSpc>
              <a:buNone/>
            </a:pPr>
            <a:r>
              <a:rPr lang="en-US" sz="1250" dirty="0">
                <a:solidFill>
                  <a:srgbClr val="C9D4DD"/>
                </a:solidFill>
                <a:latin typeface="Calibri" pitchFamily="34" charset="0"/>
                <a:ea typeface="Calibri" pitchFamily="34" charset="-122"/>
                <a:cs typeface="Calibri" pitchFamily="34" charset="-120"/>
              </a:rPr>
              <a:t>Universitas Esa Unggul Tangerang,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100" kern="0" dirty="0">
                <a:solidFill>
                  <a:srgbClr val="C9761A"/>
                </a:solidFill>
                <a:latin typeface="Calibri" pitchFamily="34" charset="0"/>
                <a:ea typeface="Calibri" pitchFamily="34" charset="-122"/>
                <a:cs typeface="Calibri" pitchFamily="34" charset="-120"/>
              </a:rPr>
              <a:t>01   PENDAHULUAN</a:t>
            </a:r>
            <a:endParaRPr lang="en-US" sz="1200" dirty="0"/>
          </a:p>
        </p:txBody>
      </p:sp>
      <p:sp>
        <p:nvSpPr>
          <p:cNvPr id="3" name="Text 1"/>
          <p:cNvSpPr/>
          <p:nvPr/>
        </p:nvSpPr>
        <p:spPr>
          <a:xfrm>
            <a:off x="548640" y="685800"/>
            <a:ext cx="10515600" cy="640080"/>
          </a:xfrm>
          <a:prstGeom prst="rect">
            <a:avLst/>
          </a:prstGeom>
          <a:noFill/>
          <a:ln/>
        </p:spPr>
        <p:txBody>
          <a:bodyPr wrap="square" rtlCol="0" anchor="ctr"/>
          <a:lstStyle/>
          <a:p>
            <a:pPr indent="0" marL="0">
              <a:buNone/>
            </a:pPr>
            <a:r>
              <a:rPr lang="en-US" sz="2800" b="1" dirty="0">
                <a:solidFill>
                  <a:srgbClr val="1B3A5C"/>
                </a:solidFill>
                <a:latin typeface="Cambria" pitchFamily="34" charset="0"/>
                <a:ea typeface="Cambria" pitchFamily="34" charset="-122"/>
                <a:cs typeface="Cambria" pitchFamily="34" charset="-120"/>
              </a:rPr>
              <a:t>Masalah yang Dihadapi PT Bangun Cipta Nusantara</a:t>
            </a:r>
            <a:endParaRPr lang="en-US" sz="2800" dirty="0"/>
          </a:p>
        </p:txBody>
      </p:sp>
      <p:sp>
        <p:nvSpPr>
          <p:cNvPr id="4" name="Shape 2"/>
          <p:cNvSpPr/>
          <p:nvPr/>
        </p:nvSpPr>
        <p:spPr>
          <a:xfrm>
            <a:off x="548640" y="1600200"/>
            <a:ext cx="3383280" cy="4480560"/>
          </a:xfrm>
          <a:prstGeom prst="roundRect">
            <a:avLst>
              <a:gd name="adj" fmla="val 2162"/>
            </a:avLst>
          </a:prstGeom>
          <a:solidFill>
            <a:srgbClr val="1B3A5C"/>
          </a:solidFill>
          <a:ln/>
        </p:spPr>
      </p:sp>
      <p:sp>
        <p:nvSpPr>
          <p:cNvPr id="5" name="Text 3"/>
          <p:cNvSpPr/>
          <p:nvPr/>
        </p:nvSpPr>
        <p:spPr>
          <a:xfrm>
            <a:off x="548640" y="1965960"/>
            <a:ext cx="3383280" cy="1097280"/>
          </a:xfrm>
          <a:prstGeom prst="rect">
            <a:avLst/>
          </a:prstGeom>
          <a:noFill/>
          <a:ln/>
        </p:spPr>
        <p:txBody>
          <a:bodyPr wrap="square" rtlCol="0" anchor="ctr"/>
          <a:lstStyle/>
          <a:p>
            <a:pPr algn="ctr" indent="0" marL="0">
              <a:buNone/>
            </a:pPr>
            <a:r>
              <a:rPr lang="en-US" sz="6000" b="1" dirty="0">
                <a:solidFill>
                  <a:srgbClr val="E8912D"/>
                </a:solidFill>
                <a:latin typeface="Cambria" pitchFamily="34" charset="0"/>
                <a:ea typeface="Cambria" pitchFamily="34" charset="-122"/>
                <a:cs typeface="Cambria" pitchFamily="34" charset="-120"/>
              </a:rPr>
              <a:t>15+</a:t>
            </a:r>
            <a:endParaRPr lang="en-US" sz="6000" dirty="0"/>
          </a:p>
        </p:txBody>
      </p:sp>
      <p:sp>
        <p:nvSpPr>
          <p:cNvPr id="6" name="Text 4"/>
          <p:cNvSpPr/>
          <p:nvPr/>
        </p:nvSpPr>
        <p:spPr>
          <a:xfrm>
            <a:off x="822960" y="3063240"/>
            <a:ext cx="2834640" cy="1097280"/>
          </a:xfrm>
          <a:prstGeom prst="rect">
            <a:avLst/>
          </a:prstGeom>
          <a:noFill/>
          <a:ln/>
        </p:spPr>
        <p:txBody>
          <a:bodyPr wrap="square" rtlCol="0" anchor="ctr"/>
          <a:lstStyle/>
          <a:p>
            <a:pPr algn="ctr" indent="0" marL="0">
              <a:lnSpc>
                <a:spcPts val="1800"/>
              </a:lnSpc>
              <a:buNone/>
            </a:pPr>
            <a:r>
              <a:rPr lang="en-US" sz="1300" dirty="0">
                <a:solidFill>
                  <a:srgbClr val="FFFFFF"/>
                </a:solidFill>
                <a:latin typeface="Calibri" pitchFamily="34" charset="0"/>
                <a:ea typeface="Calibri" pitchFamily="34" charset="-122"/>
                <a:cs typeface="Calibri" pitchFamily="34" charset="-120"/>
              </a:rPr>
              <a:t>proyek dikelola bersamaan</a:t>
            </a:r>
            <a:endParaRPr lang="en-US" sz="1300" dirty="0"/>
          </a:p>
          <a:p>
            <a:pPr algn="ctr" indent="0" marL="0">
              <a:lnSpc>
                <a:spcPts val="1800"/>
              </a:lnSpc>
              <a:buNone/>
            </a:pPr>
            <a:r>
              <a:rPr lang="en-US" sz="1300" dirty="0">
                <a:solidFill>
                  <a:srgbClr val="FFFFFF"/>
                </a:solidFill>
                <a:latin typeface="Calibri" pitchFamily="34" charset="0"/>
                <a:ea typeface="Calibri" pitchFamily="34" charset="-122"/>
                <a:cs typeface="Calibri" pitchFamily="34" charset="-120"/>
              </a:rPr>
              <a:t>setiap tahun — gedung, jalan tol,</a:t>
            </a:r>
            <a:endParaRPr lang="en-US" sz="1300" dirty="0"/>
          </a:p>
          <a:p>
            <a:pPr algn="ctr" indent="0" marL="0">
              <a:lnSpc>
                <a:spcPts val="1800"/>
              </a:lnSpc>
              <a:buNone/>
            </a:pPr>
            <a:r>
              <a:rPr lang="en-US" sz="1300" dirty="0">
                <a:solidFill>
                  <a:srgbClr val="FFFFFF"/>
                </a:solidFill>
                <a:latin typeface="Calibri" pitchFamily="34" charset="0"/>
                <a:ea typeface="Calibri" pitchFamily="34" charset="-122"/>
                <a:cs typeface="Calibri" pitchFamily="34" charset="-120"/>
              </a:rPr>
              <a:t>hingga bendungan</a:t>
            </a:r>
            <a:endParaRPr lang="en-US" sz="1300" dirty="0"/>
          </a:p>
        </p:txBody>
      </p:sp>
      <p:sp>
        <p:nvSpPr>
          <p:cNvPr id="7" name="Shape 5"/>
          <p:cNvSpPr/>
          <p:nvPr/>
        </p:nvSpPr>
        <p:spPr>
          <a:xfrm>
            <a:off x="1005840" y="4343400"/>
            <a:ext cx="2468880" cy="0"/>
          </a:xfrm>
          <a:prstGeom prst="line">
            <a:avLst/>
          </a:prstGeom>
          <a:noFill/>
          <a:ln w="12700">
            <a:solidFill>
              <a:srgbClr val="3E5A78"/>
            </a:solidFill>
            <a:prstDash val="solid"/>
          </a:ln>
        </p:spPr>
      </p:sp>
      <p:sp>
        <p:nvSpPr>
          <p:cNvPr id="8" name="Text 6"/>
          <p:cNvSpPr/>
          <p:nvPr/>
        </p:nvSpPr>
        <p:spPr>
          <a:xfrm>
            <a:off x="822960" y="4526280"/>
            <a:ext cx="2834640" cy="1371600"/>
          </a:xfrm>
          <a:prstGeom prst="rect">
            <a:avLst/>
          </a:prstGeom>
          <a:noFill/>
          <a:ln/>
        </p:spPr>
        <p:txBody>
          <a:bodyPr wrap="square" rtlCol="0" anchor="ctr"/>
          <a:lstStyle/>
          <a:p>
            <a:pPr algn="ctr" indent="0" marL="0">
              <a:lnSpc>
                <a:spcPts val="1700"/>
              </a:lnSpc>
              <a:buNone/>
            </a:pPr>
            <a:r>
              <a:rPr lang="en-US" sz="1250" i="1" dirty="0">
                <a:solidFill>
                  <a:srgbClr val="D8E1E8"/>
                </a:solidFill>
                <a:latin typeface="Calibri" pitchFamily="34" charset="0"/>
                <a:ea typeface="Calibri" pitchFamily="34" charset="-122"/>
                <a:cs typeface="Calibri" pitchFamily="34" charset="-120"/>
              </a:rPr>
              <a:t>Tata kelola proyek saat ini masih mengandalkan spreadsheet, email, dan WhatsApp yang tidak saling terhubung antardivisi.</a:t>
            </a:r>
            <a:endParaRPr lang="en-US" sz="1250" dirty="0"/>
          </a:p>
        </p:txBody>
      </p:sp>
      <p:sp>
        <p:nvSpPr>
          <p:cNvPr id="9" name="Shape 7"/>
          <p:cNvSpPr/>
          <p:nvPr/>
        </p:nvSpPr>
        <p:spPr>
          <a:xfrm>
            <a:off x="4297680" y="1645920"/>
            <a:ext cx="384048" cy="384048"/>
          </a:xfrm>
          <a:prstGeom prst="ellipse">
            <a:avLst/>
          </a:prstGeom>
          <a:solidFill>
            <a:srgbClr val="E8912D"/>
          </a:solidFill>
          <a:ln/>
        </p:spPr>
      </p:sp>
      <p:sp>
        <p:nvSpPr>
          <p:cNvPr id="10" name="Text 8"/>
          <p:cNvSpPr/>
          <p:nvPr/>
        </p:nvSpPr>
        <p:spPr>
          <a:xfrm>
            <a:off x="4297680" y="1645920"/>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p:nvPr/>
        </p:nvSpPr>
        <p:spPr>
          <a:xfrm>
            <a:off x="4846320" y="1600200"/>
            <a:ext cx="6583680" cy="320040"/>
          </a:xfrm>
          <a:prstGeom prst="rect">
            <a:avLst/>
          </a:prstGeom>
          <a:noFill/>
          <a:ln/>
        </p:spPr>
        <p:txBody>
          <a:bodyPr wrap="square" rtlCol="0" anchor="ctr"/>
          <a:lstStyle/>
          <a:p>
            <a:pPr indent="0" marL="0">
              <a:buNone/>
            </a:pPr>
            <a:r>
              <a:rPr lang="en-US" sz="1450" b="1" dirty="0">
                <a:solidFill>
                  <a:srgbClr val="1B3A5C"/>
                </a:solidFill>
                <a:latin typeface="Calibri" pitchFamily="34" charset="0"/>
                <a:ea typeface="Calibri" pitchFamily="34" charset="-122"/>
                <a:cs typeface="Calibri" pitchFamily="34" charset="-120"/>
              </a:rPr>
              <a:t>Data Tidak Konsisten</a:t>
            </a:r>
            <a:endParaRPr lang="en-US" sz="1450" dirty="0"/>
          </a:p>
        </p:txBody>
      </p:sp>
      <p:sp>
        <p:nvSpPr>
          <p:cNvPr id="12" name="Text 10"/>
          <p:cNvSpPr/>
          <p:nvPr/>
        </p:nvSpPr>
        <p:spPr>
          <a:xfrm>
            <a:off x="4846320" y="1938528"/>
            <a:ext cx="6583680" cy="685800"/>
          </a:xfrm>
          <a:prstGeom prst="rect">
            <a:avLst/>
          </a:prstGeom>
          <a:noFill/>
          <a:ln/>
        </p:spPr>
        <p:txBody>
          <a:bodyPr wrap="square" rtlCol="0" anchor="ctr"/>
          <a:lstStyle/>
          <a:p>
            <a:pPr indent="0" marL="0">
              <a:lnSpc>
                <a:spcPts val="1500"/>
              </a:lnSpc>
              <a:buNone/>
            </a:pPr>
            <a:r>
              <a:rPr lang="en-US" sz="1200" dirty="0">
                <a:solidFill>
                  <a:srgbClr val="222A32"/>
                </a:solidFill>
                <a:latin typeface="Calibri" pitchFamily="34" charset="0"/>
                <a:ea typeface="Calibri" pitchFamily="34" charset="-122"/>
                <a:cs typeface="Calibri" pitchFamily="34" charset="-120"/>
              </a:rPr>
              <a:t>Setiap divisi mengelola data sendiri, sehingga sering terjadi ketidaksesuaian informasi antardepartemen.</a:t>
            </a:r>
            <a:endParaRPr lang="en-US" sz="1200" dirty="0"/>
          </a:p>
        </p:txBody>
      </p:sp>
      <p:sp>
        <p:nvSpPr>
          <p:cNvPr id="13" name="Shape 11"/>
          <p:cNvSpPr/>
          <p:nvPr/>
        </p:nvSpPr>
        <p:spPr>
          <a:xfrm>
            <a:off x="4297680" y="2761488"/>
            <a:ext cx="384048" cy="384048"/>
          </a:xfrm>
          <a:prstGeom prst="ellipse">
            <a:avLst/>
          </a:prstGeom>
          <a:solidFill>
            <a:srgbClr val="E8912D"/>
          </a:solidFill>
          <a:ln/>
        </p:spPr>
      </p:sp>
      <p:sp>
        <p:nvSpPr>
          <p:cNvPr id="14" name="Text 12"/>
          <p:cNvSpPr/>
          <p:nvPr/>
        </p:nvSpPr>
        <p:spPr>
          <a:xfrm>
            <a:off x="4297680" y="2761488"/>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4846320" y="2715768"/>
            <a:ext cx="6583680" cy="320040"/>
          </a:xfrm>
          <a:prstGeom prst="rect">
            <a:avLst/>
          </a:prstGeom>
          <a:noFill/>
          <a:ln/>
        </p:spPr>
        <p:txBody>
          <a:bodyPr wrap="square" rtlCol="0" anchor="ctr"/>
          <a:lstStyle/>
          <a:p>
            <a:pPr indent="0" marL="0">
              <a:buNone/>
            </a:pPr>
            <a:r>
              <a:rPr lang="en-US" sz="1450" b="1" dirty="0">
                <a:solidFill>
                  <a:srgbClr val="1B3A5C"/>
                </a:solidFill>
                <a:latin typeface="Calibri" pitchFamily="34" charset="0"/>
                <a:ea typeface="Calibri" pitchFamily="34" charset="-122"/>
                <a:cs typeface="Calibri" pitchFamily="34" charset="-120"/>
              </a:rPr>
              <a:t>Pelaporan Lambat</a:t>
            </a:r>
            <a:endParaRPr lang="en-US" sz="1450" dirty="0"/>
          </a:p>
        </p:txBody>
      </p:sp>
      <p:sp>
        <p:nvSpPr>
          <p:cNvPr id="16" name="Text 14"/>
          <p:cNvSpPr/>
          <p:nvPr/>
        </p:nvSpPr>
        <p:spPr>
          <a:xfrm>
            <a:off x="4846320" y="3054096"/>
            <a:ext cx="6583680" cy="685800"/>
          </a:xfrm>
          <a:prstGeom prst="rect">
            <a:avLst/>
          </a:prstGeom>
          <a:noFill/>
          <a:ln/>
        </p:spPr>
        <p:txBody>
          <a:bodyPr wrap="square" rtlCol="0" anchor="ctr"/>
          <a:lstStyle/>
          <a:p>
            <a:pPr indent="0" marL="0">
              <a:lnSpc>
                <a:spcPts val="1500"/>
              </a:lnSpc>
              <a:buNone/>
            </a:pPr>
            <a:r>
              <a:rPr lang="en-US" sz="1200" dirty="0">
                <a:solidFill>
                  <a:srgbClr val="222A32"/>
                </a:solidFill>
                <a:latin typeface="Calibri" pitchFamily="34" charset="0"/>
                <a:ea typeface="Calibri" pitchFamily="34" charset="-122"/>
                <a:cs typeface="Calibri" pitchFamily="34" charset="-120"/>
              </a:rPr>
              <a:t>Progres pekerjaan terlambat dilaporkan dan proses verifikasi memakan waktu lama karena data tersebar.</a:t>
            </a:r>
            <a:endParaRPr lang="en-US" sz="1200" dirty="0"/>
          </a:p>
        </p:txBody>
      </p:sp>
      <p:sp>
        <p:nvSpPr>
          <p:cNvPr id="17" name="Shape 15"/>
          <p:cNvSpPr/>
          <p:nvPr/>
        </p:nvSpPr>
        <p:spPr>
          <a:xfrm>
            <a:off x="4297680" y="3877056"/>
            <a:ext cx="384048" cy="384048"/>
          </a:xfrm>
          <a:prstGeom prst="ellipse">
            <a:avLst/>
          </a:prstGeom>
          <a:solidFill>
            <a:srgbClr val="E8912D"/>
          </a:solidFill>
          <a:ln/>
        </p:spPr>
      </p:sp>
      <p:sp>
        <p:nvSpPr>
          <p:cNvPr id="18" name="Text 16"/>
          <p:cNvSpPr/>
          <p:nvPr/>
        </p:nvSpPr>
        <p:spPr>
          <a:xfrm>
            <a:off x="4297680" y="3877056"/>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4846320" y="3831336"/>
            <a:ext cx="6583680" cy="320040"/>
          </a:xfrm>
          <a:prstGeom prst="rect">
            <a:avLst/>
          </a:prstGeom>
          <a:noFill/>
          <a:ln/>
        </p:spPr>
        <p:txBody>
          <a:bodyPr wrap="square" rtlCol="0" anchor="ctr"/>
          <a:lstStyle/>
          <a:p>
            <a:pPr indent="0" marL="0">
              <a:buNone/>
            </a:pPr>
            <a:r>
              <a:rPr lang="en-US" sz="1450" b="1" dirty="0">
                <a:solidFill>
                  <a:srgbClr val="1B3A5C"/>
                </a:solidFill>
                <a:latin typeface="Calibri" pitchFamily="34" charset="0"/>
                <a:ea typeface="Calibri" pitchFamily="34" charset="-122"/>
                <a:cs typeface="Calibri" pitchFamily="34" charset="-120"/>
              </a:rPr>
              <a:t>Visibilitas Rendah</a:t>
            </a:r>
            <a:endParaRPr lang="en-US" sz="1450" dirty="0"/>
          </a:p>
        </p:txBody>
      </p:sp>
      <p:sp>
        <p:nvSpPr>
          <p:cNvPr id="20" name="Text 18"/>
          <p:cNvSpPr/>
          <p:nvPr/>
        </p:nvSpPr>
        <p:spPr>
          <a:xfrm>
            <a:off x="4846320" y="4169664"/>
            <a:ext cx="6583680" cy="685800"/>
          </a:xfrm>
          <a:prstGeom prst="rect">
            <a:avLst/>
          </a:prstGeom>
          <a:noFill/>
          <a:ln/>
        </p:spPr>
        <p:txBody>
          <a:bodyPr wrap="square" rtlCol="0" anchor="ctr"/>
          <a:lstStyle/>
          <a:p>
            <a:pPr indent="0" marL="0">
              <a:lnSpc>
                <a:spcPts val="1500"/>
              </a:lnSpc>
              <a:buNone/>
            </a:pPr>
            <a:r>
              <a:rPr lang="en-US" sz="1200" dirty="0">
                <a:solidFill>
                  <a:srgbClr val="222A32"/>
                </a:solidFill>
                <a:latin typeface="Calibri" pitchFamily="34" charset="0"/>
                <a:ea typeface="Calibri" pitchFamily="34" charset="-122"/>
                <a:cs typeface="Calibri" pitchFamily="34" charset="-120"/>
              </a:rPr>
              <a:t>Ketersediaan material di lapangan sulit dipantau, sementara data anggaran antarpihak sering berbeda.</a:t>
            </a:r>
            <a:endParaRPr lang="en-US" sz="1200" dirty="0"/>
          </a:p>
        </p:txBody>
      </p:sp>
      <p:sp>
        <p:nvSpPr>
          <p:cNvPr id="21" name="Shape 19"/>
          <p:cNvSpPr/>
          <p:nvPr/>
        </p:nvSpPr>
        <p:spPr>
          <a:xfrm>
            <a:off x="4297680" y="4992624"/>
            <a:ext cx="384048" cy="384048"/>
          </a:xfrm>
          <a:prstGeom prst="ellipse">
            <a:avLst/>
          </a:prstGeom>
          <a:solidFill>
            <a:srgbClr val="E8912D"/>
          </a:solidFill>
          <a:ln/>
        </p:spPr>
      </p:sp>
      <p:sp>
        <p:nvSpPr>
          <p:cNvPr id="22" name="Text 20"/>
          <p:cNvSpPr/>
          <p:nvPr/>
        </p:nvSpPr>
        <p:spPr>
          <a:xfrm>
            <a:off x="4297680" y="4992624"/>
            <a:ext cx="384048" cy="384048"/>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4846320" y="4946904"/>
            <a:ext cx="6583680" cy="320040"/>
          </a:xfrm>
          <a:prstGeom prst="rect">
            <a:avLst/>
          </a:prstGeom>
          <a:noFill/>
          <a:ln/>
        </p:spPr>
        <p:txBody>
          <a:bodyPr wrap="square" rtlCol="0" anchor="ctr"/>
          <a:lstStyle/>
          <a:p>
            <a:pPr indent="0" marL="0">
              <a:buNone/>
            </a:pPr>
            <a:r>
              <a:rPr lang="en-US" sz="1450" b="1" dirty="0">
                <a:solidFill>
                  <a:srgbClr val="1B3A5C"/>
                </a:solidFill>
                <a:latin typeface="Calibri" pitchFamily="34" charset="0"/>
                <a:ea typeface="Calibri" pitchFamily="34" charset="-122"/>
                <a:cs typeface="Calibri" pitchFamily="34" charset="-120"/>
              </a:rPr>
              <a:t>Keputusan Kurang Responsif</a:t>
            </a:r>
            <a:endParaRPr lang="en-US" sz="1450" dirty="0"/>
          </a:p>
        </p:txBody>
      </p:sp>
      <p:sp>
        <p:nvSpPr>
          <p:cNvPr id="24" name="Text 22"/>
          <p:cNvSpPr/>
          <p:nvPr/>
        </p:nvSpPr>
        <p:spPr>
          <a:xfrm>
            <a:off x="4846320" y="5285232"/>
            <a:ext cx="6583680" cy="685800"/>
          </a:xfrm>
          <a:prstGeom prst="rect">
            <a:avLst/>
          </a:prstGeom>
          <a:noFill/>
          <a:ln/>
        </p:spPr>
        <p:txBody>
          <a:bodyPr wrap="square" rtlCol="0" anchor="ctr"/>
          <a:lstStyle/>
          <a:p>
            <a:pPr indent="0" marL="0">
              <a:lnSpc>
                <a:spcPts val="1500"/>
              </a:lnSpc>
              <a:buNone/>
            </a:pPr>
            <a:r>
              <a:rPr lang="en-US" sz="1200" dirty="0">
                <a:solidFill>
                  <a:srgbClr val="222A32"/>
                </a:solidFill>
                <a:latin typeface="Calibri" pitchFamily="34" charset="0"/>
                <a:ea typeface="Calibri" pitchFamily="34" charset="-122"/>
                <a:cs typeface="Calibri" pitchFamily="34" charset="-120"/>
              </a:rPr>
              <a:t>Manajemen sulit mengambil keputusan cepat karena informasi belum mencerminkan kondisi aktual proyek.</a:t>
            </a:r>
            <a:endParaRPr lang="en-US" sz="1200" dirty="0"/>
          </a:p>
        </p:txBody>
      </p:sp>
      <p:sp>
        <p:nvSpPr>
          <p:cNvPr id="25" name="Text 23"/>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5A6B7A"/>
                </a:solidFill>
                <a:latin typeface="Calibri" pitchFamily="34" charset="0"/>
                <a:ea typeface="Calibri" pitchFamily="34" charset="-122"/>
                <a:cs typeface="Calibri" pitchFamily="34" charset="-120"/>
              </a:rPr>
              <a:t>Latar Belakang &amp; Rumusan Masalah</a:t>
            </a:r>
            <a:endParaRPr lang="en-US" sz="900" dirty="0"/>
          </a:p>
        </p:txBody>
      </p:sp>
      <p:sp>
        <p:nvSpPr>
          <p:cNvPr id="26" name="Text 24"/>
          <p:cNvSpPr/>
          <p:nvPr/>
        </p:nvSpPr>
        <p:spPr>
          <a:xfrm>
            <a:off x="9262872" y="6473952"/>
            <a:ext cx="24688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SIMProKon  •  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100" kern="0" dirty="0">
                <a:solidFill>
                  <a:srgbClr val="C9761A"/>
                </a:solidFill>
                <a:latin typeface="Calibri" pitchFamily="34" charset="0"/>
                <a:ea typeface="Calibri" pitchFamily="34" charset="-122"/>
                <a:cs typeface="Calibri" pitchFamily="34" charset="-120"/>
              </a:rPr>
              <a:t>02   PROJECT CHARTER</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indent="0" marL="0">
              <a:buNone/>
            </a:pPr>
            <a:r>
              <a:rPr lang="en-US" sz="2700" b="1" dirty="0">
                <a:solidFill>
                  <a:srgbClr val="1B3A5C"/>
                </a:solidFill>
                <a:latin typeface="Cambria" pitchFamily="34" charset="0"/>
                <a:ea typeface="Cambria" pitchFamily="34" charset="-122"/>
                <a:cs typeface="Cambria" pitchFamily="34" charset="-120"/>
              </a:rPr>
              <a:t>SIMProKon: Solusi Terintegrasi untuk Siklus Proyek</a:t>
            </a:r>
            <a:endParaRPr lang="en-US" sz="2700" dirty="0"/>
          </a:p>
        </p:txBody>
      </p:sp>
      <p:sp>
        <p:nvSpPr>
          <p:cNvPr id="4" name="Text 2"/>
          <p:cNvSpPr/>
          <p:nvPr/>
        </p:nvSpPr>
        <p:spPr>
          <a:xfrm>
            <a:off x="548640" y="1417320"/>
            <a:ext cx="10881360" cy="822960"/>
          </a:xfrm>
          <a:prstGeom prst="rect">
            <a:avLst/>
          </a:prstGeom>
          <a:noFill/>
          <a:ln/>
        </p:spPr>
        <p:txBody>
          <a:bodyPr wrap="square" rtlCol="0" anchor="ctr"/>
          <a:lstStyle/>
          <a:p>
            <a:pPr indent="0" marL="0">
              <a:lnSpc>
                <a:spcPts val="1700"/>
              </a:lnSpc>
              <a:buNone/>
            </a:pPr>
            <a:r>
              <a:rPr lang="en-US" sz="1300" dirty="0">
                <a:solidFill>
                  <a:srgbClr val="222A32"/>
                </a:solidFill>
                <a:latin typeface="Calibri" pitchFamily="34" charset="0"/>
                <a:ea typeface="Calibri" pitchFamily="34" charset="-122"/>
                <a:cs typeface="Calibri" pitchFamily="34" charset="-120"/>
              </a:rPr>
              <a:t>SIMProKon dikembangkan sebagai platform tunggal yang mendukung seluruh tahap proyek — dari inisiasi, perencanaan, pelaksanaan, pemantauan, hingga penutupan — dan diuji melalui studi kasus proyek Nusantara Green Tower &amp; Residence (25 lantai: podium kantor 5 lantai + menara apartemen 20 lantai).</a:t>
            </a:r>
            <a:endParaRPr lang="en-US" sz="1300" dirty="0"/>
          </a:p>
        </p:txBody>
      </p:sp>
      <p:sp>
        <p:nvSpPr>
          <p:cNvPr id="5" name="Shape 3"/>
          <p:cNvSpPr/>
          <p:nvPr/>
        </p:nvSpPr>
        <p:spPr>
          <a:xfrm>
            <a:off x="548640" y="2423160"/>
            <a:ext cx="2542032" cy="960120"/>
          </a:xfrm>
          <a:prstGeom prst="roundRect">
            <a:avLst>
              <a:gd name="adj" fmla="val 6667"/>
            </a:avLst>
          </a:prstGeom>
          <a:solidFill>
            <a:srgbClr val="F3F5F7"/>
          </a:solidFill>
          <a:ln/>
        </p:spPr>
      </p:sp>
      <p:sp>
        <p:nvSpPr>
          <p:cNvPr id="6" name="Shape 4"/>
          <p:cNvSpPr/>
          <p:nvPr/>
        </p:nvSpPr>
        <p:spPr>
          <a:xfrm>
            <a:off x="685800" y="2560320"/>
            <a:ext cx="292608" cy="292608"/>
          </a:xfrm>
          <a:prstGeom prst="ellipse">
            <a:avLst/>
          </a:prstGeom>
          <a:solidFill>
            <a:srgbClr val="E8912D"/>
          </a:solidFill>
          <a:ln/>
        </p:spPr>
      </p:sp>
      <p:sp>
        <p:nvSpPr>
          <p:cNvPr id="7" name="Text 5"/>
          <p:cNvSpPr/>
          <p:nvPr/>
        </p:nvSpPr>
        <p:spPr>
          <a:xfrm>
            <a:off x="658368" y="2898648"/>
            <a:ext cx="2322576" cy="438912"/>
          </a:xfrm>
          <a:prstGeom prst="rect">
            <a:avLst/>
          </a:prstGeom>
          <a:noFill/>
          <a:ln/>
        </p:spPr>
        <p:txBody>
          <a:bodyPr wrap="square" rtlCol="0" anchor="ctr"/>
          <a:lstStyle/>
          <a:p>
            <a:pPr indent="0" marL="0">
              <a:lnSpc>
                <a:spcPts val="1300"/>
              </a:lnSpc>
              <a:buNone/>
            </a:pPr>
            <a:r>
              <a:rPr lang="en-US" sz="1150" b="1" dirty="0">
                <a:solidFill>
                  <a:srgbClr val="1B3A5C"/>
                </a:solidFill>
                <a:latin typeface="Calibri" pitchFamily="34" charset="0"/>
                <a:ea typeface="Calibri" pitchFamily="34" charset="-122"/>
                <a:cs typeface="Calibri" pitchFamily="34" charset="-120"/>
              </a:rPr>
              <a:t>Manajemen Proyek</a:t>
            </a:r>
            <a:endParaRPr lang="en-US" sz="1150" dirty="0"/>
          </a:p>
        </p:txBody>
      </p:sp>
      <p:sp>
        <p:nvSpPr>
          <p:cNvPr id="8" name="Shape 6"/>
          <p:cNvSpPr/>
          <p:nvPr/>
        </p:nvSpPr>
        <p:spPr>
          <a:xfrm>
            <a:off x="3218688" y="2423160"/>
            <a:ext cx="2542032" cy="960120"/>
          </a:xfrm>
          <a:prstGeom prst="roundRect">
            <a:avLst>
              <a:gd name="adj" fmla="val 6667"/>
            </a:avLst>
          </a:prstGeom>
          <a:solidFill>
            <a:srgbClr val="F3F5F7"/>
          </a:solidFill>
          <a:ln/>
        </p:spPr>
      </p:sp>
      <p:sp>
        <p:nvSpPr>
          <p:cNvPr id="9" name="Shape 7"/>
          <p:cNvSpPr/>
          <p:nvPr/>
        </p:nvSpPr>
        <p:spPr>
          <a:xfrm>
            <a:off x="3355848" y="2560320"/>
            <a:ext cx="292608" cy="292608"/>
          </a:xfrm>
          <a:prstGeom prst="ellipse">
            <a:avLst/>
          </a:prstGeom>
          <a:solidFill>
            <a:srgbClr val="E8912D"/>
          </a:solidFill>
          <a:ln/>
        </p:spPr>
      </p:sp>
      <p:sp>
        <p:nvSpPr>
          <p:cNvPr id="10" name="Text 8"/>
          <p:cNvSpPr/>
          <p:nvPr/>
        </p:nvSpPr>
        <p:spPr>
          <a:xfrm>
            <a:off x="3328416" y="2898648"/>
            <a:ext cx="2322576" cy="438912"/>
          </a:xfrm>
          <a:prstGeom prst="rect">
            <a:avLst/>
          </a:prstGeom>
          <a:noFill/>
          <a:ln/>
        </p:spPr>
        <p:txBody>
          <a:bodyPr wrap="square" rtlCol="0" anchor="ctr"/>
          <a:lstStyle/>
          <a:p>
            <a:pPr indent="0" marL="0">
              <a:lnSpc>
                <a:spcPts val="1300"/>
              </a:lnSpc>
              <a:buNone/>
            </a:pPr>
            <a:r>
              <a:rPr lang="en-US" sz="1150" b="1" dirty="0">
                <a:solidFill>
                  <a:srgbClr val="1B3A5C"/>
                </a:solidFill>
                <a:latin typeface="Calibri" pitchFamily="34" charset="0"/>
                <a:ea typeface="Calibri" pitchFamily="34" charset="-122"/>
                <a:cs typeface="Calibri" pitchFamily="34" charset="-120"/>
              </a:rPr>
              <a:t>Keuangan Proyek</a:t>
            </a:r>
            <a:endParaRPr lang="en-US" sz="1150" dirty="0"/>
          </a:p>
        </p:txBody>
      </p:sp>
      <p:sp>
        <p:nvSpPr>
          <p:cNvPr id="11" name="Shape 9"/>
          <p:cNvSpPr/>
          <p:nvPr/>
        </p:nvSpPr>
        <p:spPr>
          <a:xfrm>
            <a:off x="5888736" y="2423160"/>
            <a:ext cx="2542032" cy="960120"/>
          </a:xfrm>
          <a:prstGeom prst="roundRect">
            <a:avLst>
              <a:gd name="adj" fmla="val 6667"/>
            </a:avLst>
          </a:prstGeom>
          <a:solidFill>
            <a:srgbClr val="F3F5F7"/>
          </a:solidFill>
          <a:ln/>
        </p:spPr>
      </p:sp>
      <p:sp>
        <p:nvSpPr>
          <p:cNvPr id="12" name="Shape 10"/>
          <p:cNvSpPr/>
          <p:nvPr/>
        </p:nvSpPr>
        <p:spPr>
          <a:xfrm>
            <a:off x="6025896" y="2560320"/>
            <a:ext cx="292608" cy="292608"/>
          </a:xfrm>
          <a:prstGeom prst="ellipse">
            <a:avLst/>
          </a:prstGeom>
          <a:solidFill>
            <a:srgbClr val="E8912D"/>
          </a:solidFill>
          <a:ln/>
        </p:spPr>
      </p:sp>
      <p:sp>
        <p:nvSpPr>
          <p:cNvPr id="13" name="Text 11"/>
          <p:cNvSpPr/>
          <p:nvPr/>
        </p:nvSpPr>
        <p:spPr>
          <a:xfrm>
            <a:off x="5998464" y="2898648"/>
            <a:ext cx="2322576" cy="438912"/>
          </a:xfrm>
          <a:prstGeom prst="rect">
            <a:avLst/>
          </a:prstGeom>
          <a:noFill/>
          <a:ln/>
        </p:spPr>
        <p:txBody>
          <a:bodyPr wrap="square" rtlCol="0" anchor="ctr"/>
          <a:lstStyle/>
          <a:p>
            <a:pPr indent="0" marL="0">
              <a:lnSpc>
                <a:spcPts val="1300"/>
              </a:lnSpc>
              <a:buNone/>
            </a:pPr>
            <a:r>
              <a:rPr lang="en-US" sz="1150" b="1" dirty="0">
                <a:solidFill>
                  <a:srgbClr val="1B3A5C"/>
                </a:solidFill>
                <a:latin typeface="Calibri" pitchFamily="34" charset="0"/>
                <a:ea typeface="Calibri" pitchFamily="34" charset="-122"/>
                <a:cs typeface="Calibri" pitchFamily="34" charset="-120"/>
              </a:rPr>
              <a:t>Logistik &amp; Pergudangan</a:t>
            </a:r>
            <a:endParaRPr lang="en-US" sz="1150" dirty="0"/>
          </a:p>
        </p:txBody>
      </p:sp>
      <p:sp>
        <p:nvSpPr>
          <p:cNvPr id="14" name="Shape 12"/>
          <p:cNvSpPr/>
          <p:nvPr/>
        </p:nvSpPr>
        <p:spPr>
          <a:xfrm>
            <a:off x="8558784" y="2423160"/>
            <a:ext cx="2542032" cy="960120"/>
          </a:xfrm>
          <a:prstGeom prst="roundRect">
            <a:avLst>
              <a:gd name="adj" fmla="val 6667"/>
            </a:avLst>
          </a:prstGeom>
          <a:solidFill>
            <a:srgbClr val="F3F5F7"/>
          </a:solidFill>
          <a:ln/>
        </p:spPr>
      </p:sp>
      <p:sp>
        <p:nvSpPr>
          <p:cNvPr id="15" name="Shape 13"/>
          <p:cNvSpPr/>
          <p:nvPr/>
        </p:nvSpPr>
        <p:spPr>
          <a:xfrm>
            <a:off x="8695944" y="2560320"/>
            <a:ext cx="292608" cy="292608"/>
          </a:xfrm>
          <a:prstGeom prst="ellipse">
            <a:avLst/>
          </a:prstGeom>
          <a:solidFill>
            <a:srgbClr val="E8912D"/>
          </a:solidFill>
          <a:ln/>
        </p:spPr>
      </p:sp>
      <p:sp>
        <p:nvSpPr>
          <p:cNvPr id="16" name="Text 14"/>
          <p:cNvSpPr/>
          <p:nvPr/>
        </p:nvSpPr>
        <p:spPr>
          <a:xfrm>
            <a:off x="8668512" y="2898648"/>
            <a:ext cx="2322576" cy="438912"/>
          </a:xfrm>
          <a:prstGeom prst="rect">
            <a:avLst/>
          </a:prstGeom>
          <a:noFill/>
          <a:ln/>
        </p:spPr>
        <p:txBody>
          <a:bodyPr wrap="square" rtlCol="0" anchor="ctr"/>
          <a:lstStyle/>
          <a:p>
            <a:pPr indent="0" marL="0">
              <a:lnSpc>
                <a:spcPts val="1300"/>
              </a:lnSpc>
              <a:buNone/>
            </a:pPr>
            <a:r>
              <a:rPr lang="en-US" sz="1150" b="1" dirty="0">
                <a:solidFill>
                  <a:srgbClr val="1B3A5C"/>
                </a:solidFill>
                <a:latin typeface="Calibri" pitchFamily="34" charset="0"/>
                <a:ea typeface="Calibri" pitchFamily="34" charset="-122"/>
                <a:cs typeface="Calibri" pitchFamily="34" charset="-120"/>
              </a:rPr>
              <a:t>Sumber Daya Manusia</a:t>
            </a:r>
            <a:endParaRPr lang="en-US" sz="1150" dirty="0"/>
          </a:p>
        </p:txBody>
      </p:sp>
      <p:sp>
        <p:nvSpPr>
          <p:cNvPr id="17" name="Shape 15"/>
          <p:cNvSpPr/>
          <p:nvPr/>
        </p:nvSpPr>
        <p:spPr>
          <a:xfrm>
            <a:off x="548640" y="3547872"/>
            <a:ext cx="2542032" cy="960120"/>
          </a:xfrm>
          <a:prstGeom prst="roundRect">
            <a:avLst>
              <a:gd name="adj" fmla="val 6667"/>
            </a:avLst>
          </a:prstGeom>
          <a:solidFill>
            <a:srgbClr val="F3F5F7"/>
          </a:solidFill>
          <a:ln/>
        </p:spPr>
      </p:sp>
      <p:sp>
        <p:nvSpPr>
          <p:cNvPr id="18" name="Shape 16"/>
          <p:cNvSpPr/>
          <p:nvPr/>
        </p:nvSpPr>
        <p:spPr>
          <a:xfrm>
            <a:off x="685800" y="3685032"/>
            <a:ext cx="292608" cy="292608"/>
          </a:xfrm>
          <a:prstGeom prst="ellipse">
            <a:avLst/>
          </a:prstGeom>
          <a:solidFill>
            <a:srgbClr val="E8912D"/>
          </a:solidFill>
          <a:ln/>
        </p:spPr>
      </p:sp>
      <p:sp>
        <p:nvSpPr>
          <p:cNvPr id="19" name="Text 17"/>
          <p:cNvSpPr/>
          <p:nvPr/>
        </p:nvSpPr>
        <p:spPr>
          <a:xfrm>
            <a:off x="658368" y="4023360"/>
            <a:ext cx="2322576" cy="438912"/>
          </a:xfrm>
          <a:prstGeom prst="rect">
            <a:avLst/>
          </a:prstGeom>
          <a:noFill/>
          <a:ln/>
        </p:spPr>
        <p:txBody>
          <a:bodyPr wrap="square" rtlCol="0" anchor="ctr"/>
          <a:lstStyle/>
          <a:p>
            <a:pPr indent="0" marL="0">
              <a:lnSpc>
                <a:spcPts val="1300"/>
              </a:lnSpc>
              <a:buNone/>
            </a:pPr>
            <a:r>
              <a:rPr lang="en-US" sz="1150" b="1" dirty="0">
                <a:solidFill>
                  <a:srgbClr val="1B3A5C"/>
                </a:solidFill>
                <a:latin typeface="Calibri" pitchFamily="34" charset="0"/>
                <a:ea typeface="Calibri" pitchFamily="34" charset="-122"/>
                <a:cs typeface="Calibri" pitchFamily="34" charset="-120"/>
              </a:rPr>
              <a:t>Dashboard Eksekutif</a:t>
            </a:r>
            <a:endParaRPr lang="en-US" sz="1150" dirty="0"/>
          </a:p>
        </p:txBody>
      </p:sp>
      <p:sp>
        <p:nvSpPr>
          <p:cNvPr id="20" name="Shape 18"/>
          <p:cNvSpPr/>
          <p:nvPr/>
        </p:nvSpPr>
        <p:spPr>
          <a:xfrm>
            <a:off x="3218688" y="3547872"/>
            <a:ext cx="2542032" cy="960120"/>
          </a:xfrm>
          <a:prstGeom prst="roundRect">
            <a:avLst>
              <a:gd name="adj" fmla="val 6667"/>
            </a:avLst>
          </a:prstGeom>
          <a:solidFill>
            <a:srgbClr val="F3F5F7"/>
          </a:solidFill>
          <a:ln/>
        </p:spPr>
      </p:sp>
      <p:sp>
        <p:nvSpPr>
          <p:cNvPr id="21" name="Shape 19"/>
          <p:cNvSpPr/>
          <p:nvPr/>
        </p:nvSpPr>
        <p:spPr>
          <a:xfrm>
            <a:off x="3355848" y="3685032"/>
            <a:ext cx="292608" cy="292608"/>
          </a:xfrm>
          <a:prstGeom prst="ellipse">
            <a:avLst/>
          </a:prstGeom>
          <a:solidFill>
            <a:srgbClr val="E8912D"/>
          </a:solidFill>
          <a:ln/>
        </p:spPr>
      </p:sp>
      <p:sp>
        <p:nvSpPr>
          <p:cNvPr id="22" name="Text 20"/>
          <p:cNvSpPr/>
          <p:nvPr/>
        </p:nvSpPr>
        <p:spPr>
          <a:xfrm>
            <a:off x="3328416" y="4023360"/>
            <a:ext cx="2322576" cy="438912"/>
          </a:xfrm>
          <a:prstGeom prst="rect">
            <a:avLst/>
          </a:prstGeom>
          <a:noFill/>
          <a:ln/>
        </p:spPr>
        <p:txBody>
          <a:bodyPr wrap="square" rtlCol="0" anchor="ctr"/>
          <a:lstStyle/>
          <a:p>
            <a:pPr indent="0" marL="0">
              <a:lnSpc>
                <a:spcPts val="1300"/>
              </a:lnSpc>
              <a:buNone/>
            </a:pPr>
            <a:r>
              <a:rPr lang="en-US" sz="1150" b="1" dirty="0">
                <a:solidFill>
                  <a:srgbClr val="1B3A5C"/>
                </a:solidFill>
                <a:latin typeface="Calibri" pitchFamily="34" charset="0"/>
                <a:ea typeface="Calibri" pitchFamily="34" charset="-122"/>
                <a:cs typeface="Calibri" pitchFamily="34" charset="-120"/>
              </a:rPr>
              <a:t>Aplikasi Mobile Site Manager</a:t>
            </a:r>
            <a:endParaRPr lang="en-US" sz="1150" dirty="0"/>
          </a:p>
        </p:txBody>
      </p:sp>
      <p:sp>
        <p:nvSpPr>
          <p:cNvPr id="23" name="Shape 21"/>
          <p:cNvSpPr/>
          <p:nvPr/>
        </p:nvSpPr>
        <p:spPr>
          <a:xfrm>
            <a:off x="5888736" y="3547872"/>
            <a:ext cx="2542032" cy="960120"/>
          </a:xfrm>
          <a:prstGeom prst="roundRect">
            <a:avLst>
              <a:gd name="adj" fmla="val 6667"/>
            </a:avLst>
          </a:prstGeom>
          <a:solidFill>
            <a:srgbClr val="F3F5F7"/>
          </a:solidFill>
          <a:ln/>
        </p:spPr>
      </p:sp>
      <p:sp>
        <p:nvSpPr>
          <p:cNvPr id="24" name="Shape 22"/>
          <p:cNvSpPr/>
          <p:nvPr/>
        </p:nvSpPr>
        <p:spPr>
          <a:xfrm>
            <a:off x="6025896" y="3685032"/>
            <a:ext cx="292608" cy="292608"/>
          </a:xfrm>
          <a:prstGeom prst="ellipse">
            <a:avLst/>
          </a:prstGeom>
          <a:solidFill>
            <a:srgbClr val="E8912D"/>
          </a:solidFill>
          <a:ln/>
        </p:spPr>
      </p:sp>
      <p:sp>
        <p:nvSpPr>
          <p:cNvPr id="25" name="Text 23"/>
          <p:cNvSpPr/>
          <p:nvPr/>
        </p:nvSpPr>
        <p:spPr>
          <a:xfrm>
            <a:off x="5998464" y="4023360"/>
            <a:ext cx="2322576" cy="438912"/>
          </a:xfrm>
          <a:prstGeom prst="rect">
            <a:avLst/>
          </a:prstGeom>
          <a:noFill/>
          <a:ln/>
        </p:spPr>
        <p:txBody>
          <a:bodyPr wrap="square" rtlCol="0" anchor="ctr"/>
          <a:lstStyle/>
          <a:p>
            <a:pPr indent="0" marL="0">
              <a:lnSpc>
                <a:spcPts val="1300"/>
              </a:lnSpc>
              <a:buNone/>
            </a:pPr>
            <a:r>
              <a:rPr lang="en-US" sz="1150" b="1" dirty="0">
                <a:solidFill>
                  <a:srgbClr val="1B3A5C"/>
                </a:solidFill>
                <a:latin typeface="Calibri" pitchFamily="34" charset="0"/>
                <a:ea typeface="Calibri" pitchFamily="34" charset="-122"/>
                <a:cs typeface="Calibri" pitchFamily="34" charset="-120"/>
              </a:rPr>
              <a:t>Integrasi Akuntansi (SAP)</a:t>
            </a:r>
            <a:endParaRPr lang="en-US" sz="1150" dirty="0"/>
          </a:p>
        </p:txBody>
      </p:sp>
      <p:sp>
        <p:nvSpPr>
          <p:cNvPr id="26" name="Text 2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5A6B7A"/>
                </a:solidFill>
                <a:latin typeface="Calibri" pitchFamily="34" charset="0"/>
                <a:ea typeface="Calibri" pitchFamily="34" charset="-122"/>
                <a:cs typeface="Calibri" pitchFamily="34" charset="-120"/>
              </a:rPr>
              <a:t>Project Charter — Tujuan &amp; Ruang Lingkup</a:t>
            </a:r>
            <a:endParaRPr lang="en-US" sz="900" dirty="0"/>
          </a:p>
        </p:txBody>
      </p:sp>
      <p:sp>
        <p:nvSpPr>
          <p:cNvPr id="27" name="Text 25"/>
          <p:cNvSpPr/>
          <p:nvPr/>
        </p:nvSpPr>
        <p:spPr>
          <a:xfrm>
            <a:off x="9262872" y="6473952"/>
            <a:ext cx="24688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SIMProKon  •  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100" kern="0" dirty="0">
                <a:solidFill>
                  <a:srgbClr val="C9761A"/>
                </a:solidFill>
                <a:latin typeface="Calibri" pitchFamily="34" charset="0"/>
                <a:ea typeface="Calibri" pitchFamily="34" charset="-122"/>
                <a:cs typeface="Calibri" pitchFamily="34" charset="-120"/>
              </a:rPr>
              <a:t>02   PROJECT CHARTER (LANJUTAN)</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indent="0" marL="0">
              <a:buNone/>
            </a:pPr>
            <a:r>
              <a:rPr lang="en-US" sz="2700" b="1" dirty="0">
                <a:solidFill>
                  <a:srgbClr val="1B3A5C"/>
                </a:solidFill>
                <a:latin typeface="Cambria" pitchFamily="34" charset="0"/>
                <a:ea typeface="Cambria" pitchFamily="34" charset="-122"/>
                <a:cs typeface="Cambria" pitchFamily="34" charset="-120"/>
              </a:rPr>
              <a:t>Batasan Proyek &amp; Faktor Kunci Keberhasilan</a:t>
            </a:r>
            <a:endParaRPr lang="en-US" sz="2700" dirty="0"/>
          </a:p>
        </p:txBody>
      </p:sp>
      <p:sp>
        <p:nvSpPr>
          <p:cNvPr id="4" name="Shape 2"/>
          <p:cNvSpPr/>
          <p:nvPr/>
        </p:nvSpPr>
        <p:spPr>
          <a:xfrm>
            <a:off x="548640" y="1508760"/>
            <a:ext cx="5394960" cy="4709160"/>
          </a:xfrm>
          <a:prstGeom prst="roundRect">
            <a:avLst>
              <a:gd name="adj" fmla="val 1553"/>
            </a:avLst>
          </a:prstGeom>
          <a:solidFill>
            <a:srgbClr val="F3F5F7"/>
          </a:solidFill>
          <a:ln/>
        </p:spPr>
      </p:sp>
      <p:sp>
        <p:nvSpPr>
          <p:cNvPr id="5" name="Text 3"/>
          <p:cNvSpPr/>
          <p:nvPr/>
        </p:nvSpPr>
        <p:spPr>
          <a:xfrm>
            <a:off x="822960" y="1691640"/>
            <a:ext cx="4846320" cy="365760"/>
          </a:xfrm>
          <a:prstGeom prst="rect">
            <a:avLst/>
          </a:prstGeom>
          <a:noFill/>
          <a:ln/>
        </p:spPr>
        <p:txBody>
          <a:bodyPr wrap="square" rtlCol="0" anchor="ctr"/>
          <a:lstStyle/>
          <a:p>
            <a:pPr indent="0" marL="0">
              <a:buNone/>
            </a:pPr>
            <a:r>
              <a:rPr lang="en-US" sz="1500" b="1" dirty="0">
                <a:solidFill>
                  <a:srgbClr val="1B3A5C"/>
                </a:solidFill>
                <a:latin typeface="Calibri" pitchFamily="34" charset="0"/>
                <a:ea typeface="Calibri" pitchFamily="34" charset="-122"/>
                <a:cs typeface="Calibri" pitchFamily="34" charset="-120"/>
              </a:rPr>
              <a:t>Di Luar Ruang Lingkup (Out-of-Scope)</a:t>
            </a:r>
            <a:endParaRPr lang="en-US" sz="1500" dirty="0"/>
          </a:p>
        </p:txBody>
      </p:sp>
      <p:sp>
        <p:nvSpPr>
          <p:cNvPr id="6" name="Text 4"/>
          <p:cNvSpPr/>
          <p:nvPr/>
        </p:nvSpPr>
        <p:spPr>
          <a:xfrm>
            <a:off x="868680" y="2148840"/>
            <a:ext cx="320040" cy="365760"/>
          </a:xfrm>
          <a:prstGeom prst="rect">
            <a:avLst/>
          </a:prstGeom>
          <a:noFill/>
          <a:ln/>
        </p:spPr>
        <p:txBody>
          <a:bodyPr wrap="square" rtlCol="0" anchor="ctr"/>
          <a:lstStyle/>
          <a:p>
            <a:pPr indent="0" marL="0">
              <a:buNone/>
            </a:pPr>
            <a:r>
              <a:rPr lang="en-US" sz="1400" b="1" dirty="0">
                <a:solidFill>
                  <a:srgbClr val="C9761A"/>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188720" y="2148840"/>
            <a:ext cx="4617720" cy="502920"/>
          </a:xfrm>
          <a:prstGeom prst="rect">
            <a:avLst/>
          </a:prstGeom>
          <a:noFill/>
          <a:ln/>
        </p:spPr>
        <p:txBody>
          <a:bodyPr wrap="square" rtlCol="0" anchor="ctr"/>
          <a:lstStyle/>
          <a:p>
            <a:pPr indent="0" marL="0">
              <a:lnSpc>
                <a:spcPts val="1400"/>
              </a:lnSpc>
              <a:buNone/>
            </a:pPr>
            <a:r>
              <a:rPr lang="en-US" sz="1250" dirty="0">
                <a:solidFill>
                  <a:srgbClr val="222A32"/>
                </a:solidFill>
                <a:latin typeface="Calibri" pitchFamily="34" charset="0"/>
                <a:ea typeface="Calibri" pitchFamily="34" charset="-122"/>
                <a:cs typeface="Calibri" pitchFamily="34" charset="-120"/>
              </a:rPr>
              <a:t>Otomatisasi alat berat berbasis IoT</a:t>
            </a:r>
            <a:endParaRPr lang="en-US" sz="1250" dirty="0"/>
          </a:p>
        </p:txBody>
      </p:sp>
      <p:sp>
        <p:nvSpPr>
          <p:cNvPr id="8" name="Text 6"/>
          <p:cNvSpPr/>
          <p:nvPr/>
        </p:nvSpPr>
        <p:spPr>
          <a:xfrm>
            <a:off x="868680" y="2752344"/>
            <a:ext cx="320040" cy="365760"/>
          </a:xfrm>
          <a:prstGeom prst="rect">
            <a:avLst/>
          </a:prstGeom>
          <a:noFill/>
          <a:ln/>
        </p:spPr>
        <p:txBody>
          <a:bodyPr wrap="square" rtlCol="0" anchor="ctr"/>
          <a:lstStyle/>
          <a:p>
            <a:pPr indent="0" marL="0">
              <a:buNone/>
            </a:pPr>
            <a:r>
              <a:rPr lang="en-US" sz="1400" b="1" dirty="0">
                <a:solidFill>
                  <a:srgbClr val="C9761A"/>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1188720" y="2752344"/>
            <a:ext cx="4617720" cy="502920"/>
          </a:xfrm>
          <a:prstGeom prst="rect">
            <a:avLst/>
          </a:prstGeom>
          <a:noFill/>
          <a:ln/>
        </p:spPr>
        <p:txBody>
          <a:bodyPr wrap="square" rtlCol="0" anchor="ctr"/>
          <a:lstStyle/>
          <a:p>
            <a:pPr indent="0" marL="0">
              <a:lnSpc>
                <a:spcPts val="1400"/>
              </a:lnSpc>
              <a:buNone/>
            </a:pPr>
            <a:r>
              <a:rPr lang="en-US" sz="1250" dirty="0">
                <a:solidFill>
                  <a:srgbClr val="222A32"/>
                </a:solidFill>
                <a:latin typeface="Calibri" pitchFamily="34" charset="0"/>
                <a:ea typeface="Calibri" pitchFamily="34" charset="-122"/>
                <a:cs typeface="Calibri" pitchFamily="34" charset="-120"/>
              </a:rPr>
              <a:t>Building Information Modeling (BIM) 3D penuh</a:t>
            </a:r>
            <a:endParaRPr lang="en-US" sz="1250" dirty="0"/>
          </a:p>
        </p:txBody>
      </p:sp>
      <p:sp>
        <p:nvSpPr>
          <p:cNvPr id="10" name="Text 8"/>
          <p:cNvSpPr/>
          <p:nvPr/>
        </p:nvSpPr>
        <p:spPr>
          <a:xfrm>
            <a:off x="868680" y="3355848"/>
            <a:ext cx="320040" cy="365760"/>
          </a:xfrm>
          <a:prstGeom prst="rect">
            <a:avLst/>
          </a:prstGeom>
          <a:noFill/>
          <a:ln/>
        </p:spPr>
        <p:txBody>
          <a:bodyPr wrap="square" rtlCol="0" anchor="ctr"/>
          <a:lstStyle/>
          <a:p>
            <a:pPr indent="0" marL="0">
              <a:buNone/>
            </a:pPr>
            <a:r>
              <a:rPr lang="en-US" sz="1400" b="1" dirty="0">
                <a:solidFill>
                  <a:srgbClr val="C9761A"/>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188720" y="3355848"/>
            <a:ext cx="4617720" cy="502920"/>
          </a:xfrm>
          <a:prstGeom prst="rect">
            <a:avLst/>
          </a:prstGeom>
          <a:noFill/>
          <a:ln/>
        </p:spPr>
        <p:txBody>
          <a:bodyPr wrap="square" rtlCol="0" anchor="ctr"/>
          <a:lstStyle/>
          <a:p>
            <a:pPr indent="0" marL="0">
              <a:lnSpc>
                <a:spcPts val="1400"/>
              </a:lnSpc>
              <a:buNone/>
            </a:pPr>
            <a:r>
              <a:rPr lang="en-US" sz="1250" dirty="0">
                <a:solidFill>
                  <a:srgbClr val="222A32"/>
                </a:solidFill>
                <a:latin typeface="Calibri" pitchFamily="34" charset="0"/>
                <a:ea typeface="Calibri" pitchFamily="34" charset="-122"/>
                <a:cs typeface="Calibri" pitchFamily="34" charset="-120"/>
              </a:rPr>
              <a:t>Portal layanan untuk klien eksternal</a:t>
            </a:r>
            <a:endParaRPr lang="en-US" sz="1250" dirty="0"/>
          </a:p>
        </p:txBody>
      </p:sp>
      <p:sp>
        <p:nvSpPr>
          <p:cNvPr id="12" name="Text 10"/>
          <p:cNvSpPr/>
          <p:nvPr/>
        </p:nvSpPr>
        <p:spPr>
          <a:xfrm>
            <a:off x="868680" y="3959352"/>
            <a:ext cx="320040" cy="365760"/>
          </a:xfrm>
          <a:prstGeom prst="rect">
            <a:avLst/>
          </a:prstGeom>
          <a:noFill/>
          <a:ln/>
        </p:spPr>
        <p:txBody>
          <a:bodyPr wrap="square" rtlCol="0" anchor="ctr"/>
          <a:lstStyle/>
          <a:p>
            <a:pPr indent="0" marL="0">
              <a:buNone/>
            </a:pPr>
            <a:r>
              <a:rPr lang="en-US" sz="1400" b="1" dirty="0">
                <a:solidFill>
                  <a:srgbClr val="C9761A"/>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188720" y="3959352"/>
            <a:ext cx="4617720" cy="502920"/>
          </a:xfrm>
          <a:prstGeom prst="rect">
            <a:avLst/>
          </a:prstGeom>
          <a:noFill/>
          <a:ln/>
        </p:spPr>
        <p:txBody>
          <a:bodyPr wrap="square" rtlCol="0" anchor="ctr"/>
          <a:lstStyle/>
          <a:p>
            <a:pPr indent="0" marL="0">
              <a:lnSpc>
                <a:spcPts val="1400"/>
              </a:lnSpc>
              <a:buNone/>
            </a:pPr>
            <a:r>
              <a:rPr lang="en-US" sz="1250" dirty="0">
                <a:solidFill>
                  <a:srgbClr val="222A32"/>
                </a:solidFill>
                <a:latin typeface="Calibri" pitchFamily="34" charset="0"/>
                <a:ea typeface="Calibri" pitchFamily="34" charset="-122"/>
                <a:cs typeface="Calibri" pitchFamily="34" charset="-120"/>
              </a:rPr>
              <a:t>Modul pengelolaan kontrak legal</a:t>
            </a:r>
            <a:endParaRPr lang="en-US" sz="1250" dirty="0"/>
          </a:p>
        </p:txBody>
      </p:sp>
      <p:sp>
        <p:nvSpPr>
          <p:cNvPr id="14" name="Text 12"/>
          <p:cNvSpPr/>
          <p:nvPr/>
        </p:nvSpPr>
        <p:spPr>
          <a:xfrm>
            <a:off x="868680" y="4562856"/>
            <a:ext cx="320040" cy="365760"/>
          </a:xfrm>
          <a:prstGeom prst="rect">
            <a:avLst/>
          </a:prstGeom>
          <a:noFill/>
          <a:ln/>
        </p:spPr>
        <p:txBody>
          <a:bodyPr wrap="square" rtlCol="0" anchor="ctr"/>
          <a:lstStyle/>
          <a:p>
            <a:pPr indent="0" marL="0">
              <a:buNone/>
            </a:pPr>
            <a:r>
              <a:rPr lang="en-US" sz="1400" b="1" dirty="0">
                <a:solidFill>
                  <a:srgbClr val="C9761A"/>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188720" y="4562856"/>
            <a:ext cx="4617720" cy="502920"/>
          </a:xfrm>
          <a:prstGeom prst="rect">
            <a:avLst/>
          </a:prstGeom>
          <a:noFill/>
          <a:ln/>
        </p:spPr>
        <p:txBody>
          <a:bodyPr wrap="square" rtlCol="0" anchor="ctr"/>
          <a:lstStyle/>
          <a:p>
            <a:pPr indent="0" marL="0">
              <a:lnSpc>
                <a:spcPts val="1400"/>
              </a:lnSpc>
              <a:buNone/>
            </a:pPr>
            <a:r>
              <a:rPr lang="en-US" sz="1250" dirty="0">
                <a:solidFill>
                  <a:srgbClr val="222A32"/>
                </a:solidFill>
                <a:latin typeface="Calibri" pitchFamily="34" charset="0"/>
                <a:ea typeface="Calibri" pitchFamily="34" charset="-122"/>
                <a:cs typeface="Calibri" pitchFamily="34" charset="-120"/>
              </a:rPr>
              <a:t>Migrasi data proyek lebih dari 3 tahun</a:t>
            </a:r>
            <a:endParaRPr lang="en-US" sz="1250" dirty="0"/>
          </a:p>
        </p:txBody>
      </p:sp>
      <p:sp>
        <p:nvSpPr>
          <p:cNvPr id="16" name="Text 14"/>
          <p:cNvSpPr/>
          <p:nvPr/>
        </p:nvSpPr>
        <p:spPr>
          <a:xfrm>
            <a:off x="868680" y="5166360"/>
            <a:ext cx="320040" cy="365760"/>
          </a:xfrm>
          <a:prstGeom prst="rect">
            <a:avLst/>
          </a:prstGeom>
          <a:noFill/>
          <a:ln/>
        </p:spPr>
        <p:txBody>
          <a:bodyPr wrap="square" rtlCol="0" anchor="ctr"/>
          <a:lstStyle/>
          <a:p>
            <a:pPr indent="0" marL="0">
              <a:buNone/>
            </a:pPr>
            <a:r>
              <a:rPr lang="en-US" sz="1400" b="1" dirty="0">
                <a:solidFill>
                  <a:srgbClr val="C9761A"/>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188720" y="5166360"/>
            <a:ext cx="4617720" cy="502920"/>
          </a:xfrm>
          <a:prstGeom prst="rect">
            <a:avLst/>
          </a:prstGeom>
          <a:noFill/>
          <a:ln/>
        </p:spPr>
        <p:txBody>
          <a:bodyPr wrap="square" rtlCol="0" anchor="ctr"/>
          <a:lstStyle/>
          <a:p>
            <a:pPr indent="0" marL="0">
              <a:lnSpc>
                <a:spcPts val="1400"/>
              </a:lnSpc>
              <a:buNone/>
            </a:pPr>
            <a:r>
              <a:rPr lang="en-US" sz="1250" dirty="0">
                <a:solidFill>
                  <a:srgbClr val="222A32"/>
                </a:solidFill>
                <a:latin typeface="Calibri" pitchFamily="34" charset="0"/>
                <a:ea typeface="Calibri" pitchFamily="34" charset="-122"/>
                <a:cs typeface="Calibri" pitchFamily="34" charset="-120"/>
              </a:rPr>
              <a:t>Integrasi Smart Home berbasis IoT di unit apartemen</a:t>
            </a:r>
            <a:endParaRPr lang="en-US" sz="1250" dirty="0"/>
          </a:p>
        </p:txBody>
      </p:sp>
      <p:sp>
        <p:nvSpPr>
          <p:cNvPr id="18" name="Shape 16"/>
          <p:cNvSpPr/>
          <p:nvPr/>
        </p:nvSpPr>
        <p:spPr>
          <a:xfrm>
            <a:off x="6172200" y="1508760"/>
            <a:ext cx="5468112" cy="4709160"/>
          </a:xfrm>
          <a:prstGeom prst="roundRect">
            <a:avLst>
              <a:gd name="adj" fmla="val 1553"/>
            </a:avLst>
          </a:prstGeom>
          <a:solidFill>
            <a:srgbClr val="1B3A5C"/>
          </a:solidFill>
          <a:ln/>
        </p:spPr>
      </p:sp>
      <p:sp>
        <p:nvSpPr>
          <p:cNvPr id="19" name="Text 17"/>
          <p:cNvSpPr/>
          <p:nvPr/>
        </p:nvSpPr>
        <p:spPr>
          <a:xfrm>
            <a:off x="6446520" y="1691640"/>
            <a:ext cx="493776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Faktor Kunci Keberhasilan (CSF)</a:t>
            </a:r>
            <a:endParaRPr lang="en-US" sz="1500" dirty="0"/>
          </a:p>
        </p:txBody>
      </p:sp>
      <p:sp>
        <p:nvSpPr>
          <p:cNvPr id="20" name="Shape 18"/>
          <p:cNvSpPr/>
          <p:nvPr/>
        </p:nvSpPr>
        <p:spPr>
          <a:xfrm>
            <a:off x="6446520" y="2194560"/>
            <a:ext cx="365760" cy="365760"/>
          </a:xfrm>
          <a:prstGeom prst="ellipse">
            <a:avLst/>
          </a:prstGeom>
          <a:solidFill>
            <a:srgbClr val="E8912D"/>
          </a:solidFill>
          <a:ln/>
        </p:spPr>
      </p:sp>
      <p:sp>
        <p:nvSpPr>
          <p:cNvPr id="21" name="Text 19"/>
          <p:cNvSpPr/>
          <p:nvPr/>
        </p:nvSpPr>
        <p:spPr>
          <a:xfrm>
            <a:off x="6446520" y="219456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20"/>
          <p:cNvSpPr/>
          <p:nvPr/>
        </p:nvSpPr>
        <p:spPr>
          <a:xfrm>
            <a:off x="6995160" y="2148840"/>
            <a:ext cx="4480560" cy="777240"/>
          </a:xfrm>
          <a:prstGeom prst="rect">
            <a:avLst/>
          </a:prstGeom>
          <a:noFill/>
          <a:ln/>
        </p:spPr>
        <p:txBody>
          <a:bodyPr wrap="square" rtlCol="0" anchor="t"/>
          <a:lstStyle/>
          <a:p>
            <a:pPr indent="0" marL="0">
              <a:lnSpc>
                <a:spcPts val="1500"/>
              </a:lnSpc>
              <a:buNone/>
            </a:pPr>
            <a:r>
              <a:rPr lang="en-US" sz="1250" dirty="0">
                <a:solidFill>
                  <a:srgbClr val="E7EDF2"/>
                </a:solidFill>
                <a:latin typeface="Calibri" pitchFamily="34" charset="0"/>
                <a:ea typeface="Calibri" pitchFamily="34" charset="-122"/>
                <a:cs typeface="Calibri" pitchFamily="34" charset="-120"/>
              </a:rPr>
              <a:t>Dukungan penuh manajemen puncak dalam mempercepat pengambilan keputusan</a:t>
            </a:r>
            <a:endParaRPr lang="en-US" sz="1250" dirty="0"/>
          </a:p>
        </p:txBody>
      </p:sp>
      <p:sp>
        <p:nvSpPr>
          <p:cNvPr id="23" name="Shape 21"/>
          <p:cNvSpPr/>
          <p:nvPr/>
        </p:nvSpPr>
        <p:spPr>
          <a:xfrm>
            <a:off x="6446520" y="3154680"/>
            <a:ext cx="365760" cy="365760"/>
          </a:xfrm>
          <a:prstGeom prst="ellipse">
            <a:avLst/>
          </a:prstGeom>
          <a:solidFill>
            <a:srgbClr val="E8912D"/>
          </a:solidFill>
          <a:ln/>
        </p:spPr>
      </p:sp>
      <p:sp>
        <p:nvSpPr>
          <p:cNvPr id="24" name="Text 22"/>
          <p:cNvSpPr/>
          <p:nvPr/>
        </p:nvSpPr>
        <p:spPr>
          <a:xfrm>
            <a:off x="6446520" y="315468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3"/>
          <p:cNvSpPr/>
          <p:nvPr/>
        </p:nvSpPr>
        <p:spPr>
          <a:xfrm>
            <a:off x="6995160" y="3108960"/>
            <a:ext cx="4480560" cy="777240"/>
          </a:xfrm>
          <a:prstGeom prst="rect">
            <a:avLst/>
          </a:prstGeom>
          <a:noFill/>
          <a:ln/>
        </p:spPr>
        <p:txBody>
          <a:bodyPr wrap="square" rtlCol="0" anchor="t"/>
          <a:lstStyle/>
          <a:p>
            <a:pPr indent="0" marL="0">
              <a:lnSpc>
                <a:spcPts val="1500"/>
              </a:lnSpc>
              <a:buNone/>
            </a:pPr>
            <a:r>
              <a:rPr lang="en-US" sz="1250" dirty="0">
                <a:solidFill>
                  <a:srgbClr val="E7EDF2"/>
                </a:solidFill>
                <a:latin typeface="Calibri" pitchFamily="34" charset="0"/>
                <a:ea typeface="Calibri" pitchFamily="34" charset="-122"/>
                <a:cs typeface="Calibri" pitchFamily="34" charset="-120"/>
              </a:rPr>
              <a:t>Tim internal &amp; vendor yang kompeten di bidang konstruksi dan TI</a:t>
            </a:r>
            <a:endParaRPr lang="en-US" sz="1250" dirty="0"/>
          </a:p>
        </p:txBody>
      </p:sp>
      <p:sp>
        <p:nvSpPr>
          <p:cNvPr id="26" name="Shape 24"/>
          <p:cNvSpPr/>
          <p:nvPr/>
        </p:nvSpPr>
        <p:spPr>
          <a:xfrm>
            <a:off x="6446520" y="4114800"/>
            <a:ext cx="365760" cy="365760"/>
          </a:xfrm>
          <a:prstGeom prst="ellipse">
            <a:avLst/>
          </a:prstGeom>
          <a:solidFill>
            <a:srgbClr val="E8912D"/>
          </a:solidFill>
          <a:ln/>
        </p:spPr>
      </p:sp>
      <p:sp>
        <p:nvSpPr>
          <p:cNvPr id="27" name="Text 25"/>
          <p:cNvSpPr/>
          <p:nvPr/>
        </p:nvSpPr>
        <p:spPr>
          <a:xfrm>
            <a:off x="6446520" y="41148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p:nvPr/>
        </p:nvSpPr>
        <p:spPr>
          <a:xfrm>
            <a:off x="6995160" y="4069080"/>
            <a:ext cx="4480560" cy="777240"/>
          </a:xfrm>
          <a:prstGeom prst="rect">
            <a:avLst/>
          </a:prstGeom>
          <a:noFill/>
          <a:ln/>
        </p:spPr>
        <p:txBody>
          <a:bodyPr wrap="square" rtlCol="0" anchor="t"/>
          <a:lstStyle/>
          <a:p>
            <a:pPr indent="0" marL="0">
              <a:lnSpc>
                <a:spcPts val="1500"/>
              </a:lnSpc>
              <a:buNone/>
            </a:pPr>
            <a:r>
              <a:rPr lang="en-US" sz="1250" dirty="0">
                <a:solidFill>
                  <a:srgbClr val="E7EDF2"/>
                </a:solidFill>
                <a:latin typeface="Calibri" pitchFamily="34" charset="0"/>
                <a:ea typeface="Calibri" pitchFamily="34" charset="-122"/>
                <a:cs typeface="Calibri" pitchFamily="34" charset="-120"/>
              </a:rPr>
              <a:t>Data master (proyek, material, akun) lengkap, konsisten, dan tervalidasi</a:t>
            </a:r>
            <a:endParaRPr lang="en-US" sz="1250" dirty="0"/>
          </a:p>
        </p:txBody>
      </p:sp>
      <p:sp>
        <p:nvSpPr>
          <p:cNvPr id="29" name="Shape 27"/>
          <p:cNvSpPr/>
          <p:nvPr/>
        </p:nvSpPr>
        <p:spPr>
          <a:xfrm>
            <a:off x="6446520" y="5074920"/>
            <a:ext cx="365760" cy="365760"/>
          </a:xfrm>
          <a:prstGeom prst="ellipse">
            <a:avLst/>
          </a:prstGeom>
          <a:solidFill>
            <a:srgbClr val="E8912D"/>
          </a:solidFill>
          <a:ln/>
        </p:spPr>
      </p:sp>
      <p:sp>
        <p:nvSpPr>
          <p:cNvPr id="30" name="Text 28"/>
          <p:cNvSpPr/>
          <p:nvPr/>
        </p:nvSpPr>
        <p:spPr>
          <a:xfrm>
            <a:off x="6446520" y="50749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Text 29"/>
          <p:cNvSpPr/>
          <p:nvPr/>
        </p:nvSpPr>
        <p:spPr>
          <a:xfrm>
            <a:off x="6995160" y="5029200"/>
            <a:ext cx="4480560" cy="777240"/>
          </a:xfrm>
          <a:prstGeom prst="rect">
            <a:avLst/>
          </a:prstGeom>
          <a:noFill/>
          <a:ln/>
        </p:spPr>
        <p:txBody>
          <a:bodyPr wrap="square" rtlCol="0" anchor="t"/>
          <a:lstStyle/>
          <a:p>
            <a:pPr indent="0" marL="0">
              <a:lnSpc>
                <a:spcPts val="1500"/>
              </a:lnSpc>
              <a:buNone/>
            </a:pPr>
            <a:r>
              <a:rPr lang="en-US" sz="1250" dirty="0">
                <a:solidFill>
                  <a:srgbClr val="E7EDF2"/>
                </a:solidFill>
                <a:latin typeface="Calibri" pitchFamily="34" charset="0"/>
                <a:ea typeface="Calibri" pitchFamily="34" charset="-122"/>
                <a:cs typeface="Calibri" pitchFamily="34" charset="-120"/>
              </a:rPr>
              <a:t>Tingkat adopsi pengguna lapangan minimal 80% pada bulan pertama go-live</a:t>
            </a:r>
            <a:endParaRPr lang="en-US" sz="1250" dirty="0"/>
          </a:p>
        </p:txBody>
      </p:sp>
      <p:sp>
        <p:nvSpPr>
          <p:cNvPr id="32" name="Text 30"/>
          <p:cNvSpPr/>
          <p:nvPr/>
        </p:nvSpPr>
        <p:spPr>
          <a:xfrm>
            <a:off x="6446520" y="5806440"/>
            <a:ext cx="4937760" cy="365760"/>
          </a:xfrm>
          <a:prstGeom prst="rect">
            <a:avLst/>
          </a:prstGeom>
          <a:noFill/>
          <a:ln/>
        </p:spPr>
        <p:txBody>
          <a:bodyPr wrap="square" rtlCol="0" anchor="ctr"/>
          <a:lstStyle/>
          <a:p>
            <a:pPr indent="0" marL="0">
              <a:lnSpc>
                <a:spcPts val="1300"/>
              </a:lnSpc>
              <a:buNone/>
            </a:pPr>
            <a:r>
              <a:rPr lang="en-US" sz="1050" i="1" dirty="0">
                <a:solidFill>
                  <a:srgbClr val="C9D4DD"/>
                </a:solidFill>
                <a:latin typeface="Calibri" pitchFamily="34" charset="0"/>
                <a:ea typeface="Calibri" pitchFamily="34" charset="-122"/>
                <a:cs typeface="Calibri" pitchFamily="34" charset="-120"/>
              </a:rPr>
              <a:t>Wewenang Manajer Proyek: realokasi anggaran ≤10%, tanda tangan kontrak vendor ≤Rp200 juta, persetujuan perubahan yang tidak menambah durasi &gt;1 minggu.</a:t>
            </a:r>
            <a:endParaRPr lang="en-US" sz="1050" dirty="0"/>
          </a:p>
        </p:txBody>
      </p:sp>
      <p:sp>
        <p:nvSpPr>
          <p:cNvPr id="33" name="Text 31"/>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5A6B7A"/>
                </a:solidFill>
                <a:latin typeface="Calibri" pitchFamily="34" charset="0"/>
                <a:ea typeface="Calibri" pitchFamily="34" charset="-122"/>
                <a:cs typeface="Calibri" pitchFamily="34" charset="-120"/>
              </a:rPr>
              <a:t>Batasan &amp; Faktor Kunci Keberhasilan</a:t>
            </a:r>
            <a:endParaRPr lang="en-US" sz="900" dirty="0"/>
          </a:p>
        </p:txBody>
      </p:sp>
      <p:sp>
        <p:nvSpPr>
          <p:cNvPr id="34" name="Text 32"/>
          <p:cNvSpPr/>
          <p:nvPr/>
        </p:nvSpPr>
        <p:spPr>
          <a:xfrm>
            <a:off x="9262872" y="6473952"/>
            <a:ext cx="24688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SIMProKon  •  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100" kern="0" dirty="0">
                <a:solidFill>
                  <a:srgbClr val="C9761A"/>
                </a:solidFill>
                <a:latin typeface="Calibri" pitchFamily="34" charset="0"/>
                <a:ea typeface="Calibri" pitchFamily="34" charset="-122"/>
                <a:cs typeface="Calibri" pitchFamily="34" charset="-120"/>
              </a:rPr>
              <a:t>03   PERENCANAAN LINGKUP</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indent="0" marL="0">
              <a:buNone/>
            </a:pPr>
            <a:r>
              <a:rPr lang="en-US" sz="2700" b="1" dirty="0">
                <a:solidFill>
                  <a:srgbClr val="1B3A5C"/>
                </a:solidFill>
                <a:latin typeface="Cambria" pitchFamily="34" charset="0"/>
                <a:ea typeface="Cambria" pitchFamily="34" charset="-122"/>
                <a:cs typeface="Cambria" pitchFamily="34" charset="-120"/>
              </a:rPr>
              <a:t>Pemangku Kepentingan &amp; Struktur Rincian Kerja</a:t>
            </a:r>
            <a:endParaRPr lang="en-US" sz="2700" dirty="0"/>
          </a:p>
        </p:txBody>
      </p:sp>
      <p:sp>
        <p:nvSpPr>
          <p:cNvPr id="4" name="Text 2"/>
          <p:cNvSpPr/>
          <p:nvPr/>
        </p:nvSpPr>
        <p:spPr>
          <a:xfrm>
            <a:off x="548640" y="1508760"/>
            <a:ext cx="5394960" cy="320040"/>
          </a:xfrm>
          <a:prstGeom prst="rect">
            <a:avLst/>
          </a:prstGeom>
          <a:noFill/>
          <a:ln/>
        </p:spPr>
        <p:txBody>
          <a:bodyPr wrap="square"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Power / Interest Grid</a:t>
            </a:r>
            <a:endParaRPr lang="en-US" sz="1300" dirty="0"/>
          </a:p>
        </p:txBody>
      </p:sp>
      <p:sp>
        <p:nvSpPr>
          <p:cNvPr id="5" name="Shape 3"/>
          <p:cNvSpPr/>
          <p:nvPr/>
        </p:nvSpPr>
        <p:spPr>
          <a:xfrm>
            <a:off x="585216" y="2002536"/>
            <a:ext cx="2624328" cy="1984248"/>
          </a:xfrm>
          <a:prstGeom prst="rect">
            <a:avLst/>
          </a:prstGeom>
          <a:solidFill>
            <a:srgbClr val="1B3A5C"/>
          </a:solidFill>
          <a:ln w="19050">
            <a:solidFill>
              <a:srgbClr val="FFFFFF"/>
            </a:solidFill>
            <a:prstDash val="solid"/>
          </a:ln>
        </p:spPr>
      </p:sp>
      <p:sp>
        <p:nvSpPr>
          <p:cNvPr id="6" name="Text 4"/>
          <p:cNvSpPr/>
          <p:nvPr/>
        </p:nvSpPr>
        <p:spPr>
          <a:xfrm>
            <a:off x="685800" y="2093976"/>
            <a:ext cx="242316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Manage Closely</a:t>
            </a:r>
            <a:endParaRPr lang="en-US" sz="1250" dirty="0"/>
          </a:p>
        </p:txBody>
      </p:sp>
      <p:sp>
        <p:nvSpPr>
          <p:cNvPr id="7" name="Text 5"/>
          <p:cNvSpPr/>
          <p:nvPr/>
        </p:nvSpPr>
        <p:spPr>
          <a:xfrm>
            <a:off x="685800" y="2423160"/>
            <a:ext cx="2423160" cy="1463040"/>
          </a:xfrm>
          <a:prstGeom prst="rect">
            <a:avLst/>
          </a:prstGeom>
          <a:noFill/>
          <a:ln/>
        </p:spPr>
        <p:txBody>
          <a:bodyPr wrap="square" rtlCol="0" anchor="ctr"/>
          <a:lstStyle/>
          <a:p>
            <a:pPr indent="0" marL="0">
              <a:lnSpc>
                <a:spcPts val="1300"/>
              </a:lnSpc>
              <a:buNone/>
            </a:pPr>
            <a:r>
              <a:rPr lang="en-US" sz="1050" dirty="0">
                <a:solidFill>
                  <a:srgbClr val="EAEFF3"/>
                </a:solidFill>
                <a:latin typeface="Calibri" pitchFamily="34" charset="0"/>
                <a:ea typeface="Calibri" pitchFamily="34" charset="-122"/>
                <a:cs typeface="Calibri" pitchFamily="34" charset="-120"/>
              </a:rPr>
              <a:t>Direktur Utama, Manajer Proyek</a:t>
            </a:r>
            <a:endParaRPr lang="en-US" sz="1050" dirty="0"/>
          </a:p>
        </p:txBody>
      </p:sp>
      <p:sp>
        <p:nvSpPr>
          <p:cNvPr id="8" name="Shape 6"/>
          <p:cNvSpPr/>
          <p:nvPr/>
        </p:nvSpPr>
        <p:spPr>
          <a:xfrm>
            <a:off x="3282696" y="2002536"/>
            <a:ext cx="2624328" cy="1984248"/>
          </a:xfrm>
          <a:prstGeom prst="rect">
            <a:avLst/>
          </a:prstGeom>
          <a:solidFill>
            <a:srgbClr val="5A6B7A"/>
          </a:solidFill>
          <a:ln w="19050">
            <a:solidFill>
              <a:srgbClr val="FFFFFF"/>
            </a:solidFill>
            <a:prstDash val="solid"/>
          </a:ln>
        </p:spPr>
      </p:sp>
      <p:sp>
        <p:nvSpPr>
          <p:cNvPr id="9" name="Text 7"/>
          <p:cNvSpPr/>
          <p:nvPr/>
        </p:nvSpPr>
        <p:spPr>
          <a:xfrm>
            <a:off x="3383280" y="2093976"/>
            <a:ext cx="242316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Keep Informed</a:t>
            </a:r>
            <a:endParaRPr lang="en-US" sz="1250" dirty="0"/>
          </a:p>
        </p:txBody>
      </p:sp>
      <p:sp>
        <p:nvSpPr>
          <p:cNvPr id="10" name="Text 8"/>
          <p:cNvSpPr/>
          <p:nvPr/>
        </p:nvSpPr>
        <p:spPr>
          <a:xfrm>
            <a:off x="3383280" y="2423160"/>
            <a:ext cx="2423160" cy="1463040"/>
          </a:xfrm>
          <a:prstGeom prst="rect">
            <a:avLst/>
          </a:prstGeom>
          <a:noFill/>
          <a:ln/>
        </p:spPr>
        <p:txBody>
          <a:bodyPr wrap="square" rtlCol="0" anchor="ctr"/>
          <a:lstStyle/>
          <a:p>
            <a:pPr indent="0" marL="0">
              <a:lnSpc>
                <a:spcPts val="1300"/>
              </a:lnSpc>
              <a:buNone/>
            </a:pPr>
            <a:r>
              <a:rPr lang="en-US" sz="1050" dirty="0">
                <a:solidFill>
                  <a:srgbClr val="EAEFF3"/>
                </a:solidFill>
                <a:latin typeface="Calibri" pitchFamily="34" charset="0"/>
                <a:ea typeface="Calibri" pitchFamily="34" charset="-122"/>
                <a:cs typeface="Calibri" pitchFamily="34" charset="-120"/>
              </a:rPr>
              <a:t>Manajer Konstruksi, Site Manager, Tim TI</a:t>
            </a:r>
            <a:endParaRPr lang="en-US" sz="1050" dirty="0"/>
          </a:p>
        </p:txBody>
      </p:sp>
      <p:sp>
        <p:nvSpPr>
          <p:cNvPr id="11" name="Shape 9"/>
          <p:cNvSpPr/>
          <p:nvPr/>
        </p:nvSpPr>
        <p:spPr>
          <a:xfrm>
            <a:off x="585216" y="4059936"/>
            <a:ext cx="2624328" cy="1984248"/>
          </a:xfrm>
          <a:prstGeom prst="rect">
            <a:avLst/>
          </a:prstGeom>
          <a:solidFill>
            <a:srgbClr val="5A6B7A"/>
          </a:solidFill>
          <a:ln w="19050">
            <a:solidFill>
              <a:srgbClr val="FFFFFF"/>
            </a:solidFill>
            <a:prstDash val="solid"/>
          </a:ln>
        </p:spPr>
      </p:sp>
      <p:sp>
        <p:nvSpPr>
          <p:cNvPr id="12" name="Text 10"/>
          <p:cNvSpPr/>
          <p:nvPr/>
        </p:nvSpPr>
        <p:spPr>
          <a:xfrm>
            <a:off x="685800" y="4151376"/>
            <a:ext cx="242316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Keep Satisfied</a:t>
            </a:r>
            <a:endParaRPr lang="en-US" sz="1250" dirty="0"/>
          </a:p>
        </p:txBody>
      </p:sp>
      <p:sp>
        <p:nvSpPr>
          <p:cNvPr id="13" name="Text 11"/>
          <p:cNvSpPr/>
          <p:nvPr/>
        </p:nvSpPr>
        <p:spPr>
          <a:xfrm>
            <a:off x="685800" y="4480560"/>
            <a:ext cx="2423160" cy="1463040"/>
          </a:xfrm>
          <a:prstGeom prst="rect">
            <a:avLst/>
          </a:prstGeom>
          <a:noFill/>
          <a:ln/>
        </p:spPr>
        <p:txBody>
          <a:bodyPr wrap="square" rtlCol="0" anchor="ctr"/>
          <a:lstStyle/>
          <a:p>
            <a:pPr indent="0" marL="0">
              <a:lnSpc>
                <a:spcPts val="1300"/>
              </a:lnSpc>
              <a:buNone/>
            </a:pPr>
            <a:r>
              <a:rPr lang="en-US" sz="1050" dirty="0">
                <a:solidFill>
                  <a:srgbClr val="EAEFF3"/>
                </a:solidFill>
                <a:latin typeface="Calibri" pitchFamily="34" charset="0"/>
                <a:ea typeface="Calibri" pitchFamily="34" charset="-122"/>
                <a:cs typeface="Calibri" pitchFamily="34" charset="-120"/>
              </a:rPr>
              <a:t>Divisi Keuangan Pusat</a:t>
            </a:r>
            <a:endParaRPr lang="en-US" sz="1050" dirty="0"/>
          </a:p>
        </p:txBody>
      </p:sp>
      <p:sp>
        <p:nvSpPr>
          <p:cNvPr id="14" name="Shape 12"/>
          <p:cNvSpPr/>
          <p:nvPr/>
        </p:nvSpPr>
        <p:spPr>
          <a:xfrm>
            <a:off x="3282696" y="4059936"/>
            <a:ext cx="2624328" cy="1984248"/>
          </a:xfrm>
          <a:prstGeom prst="rect">
            <a:avLst/>
          </a:prstGeom>
          <a:solidFill>
            <a:srgbClr val="8FA0AD"/>
          </a:solidFill>
          <a:ln w="19050">
            <a:solidFill>
              <a:srgbClr val="FFFFFF"/>
            </a:solidFill>
            <a:prstDash val="solid"/>
          </a:ln>
        </p:spPr>
      </p:sp>
      <p:sp>
        <p:nvSpPr>
          <p:cNvPr id="15" name="Text 13"/>
          <p:cNvSpPr/>
          <p:nvPr/>
        </p:nvSpPr>
        <p:spPr>
          <a:xfrm>
            <a:off x="3383280" y="4151376"/>
            <a:ext cx="242316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Monitor</a:t>
            </a:r>
            <a:endParaRPr lang="en-US" sz="1250" dirty="0"/>
          </a:p>
        </p:txBody>
      </p:sp>
      <p:sp>
        <p:nvSpPr>
          <p:cNvPr id="16" name="Text 14"/>
          <p:cNvSpPr/>
          <p:nvPr/>
        </p:nvSpPr>
        <p:spPr>
          <a:xfrm>
            <a:off x="3383280" y="4480560"/>
            <a:ext cx="2423160" cy="1463040"/>
          </a:xfrm>
          <a:prstGeom prst="rect">
            <a:avLst/>
          </a:prstGeom>
          <a:noFill/>
          <a:ln/>
        </p:spPr>
        <p:txBody>
          <a:bodyPr wrap="square" rtlCol="0" anchor="ctr"/>
          <a:lstStyle/>
          <a:p>
            <a:pPr indent="0" marL="0">
              <a:lnSpc>
                <a:spcPts val="1300"/>
              </a:lnSpc>
              <a:buNone/>
            </a:pPr>
            <a:r>
              <a:rPr lang="en-US" sz="1050" dirty="0">
                <a:solidFill>
                  <a:srgbClr val="EAEFF3"/>
                </a:solidFill>
                <a:latin typeface="Calibri" pitchFamily="34" charset="0"/>
                <a:ea typeface="Calibri" pitchFamily="34" charset="-122"/>
                <a:cs typeface="Calibri" pitchFamily="34" charset="-120"/>
              </a:rPr>
              <a:t>Vendor Cloud, Konsultan PM</a:t>
            </a:r>
            <a:endParaRPr lang="en-US" sz="1050" dirty="0"/>
          </a:p>
        </p:txBody>
      </p:sp>
      <p:sp>
        <p:nvSpPr>
          <p:cNvPr id="17" name="Text 15"/>
          <p:cNvSpPr/>
          <p:nvPr/>
        </p:nvSpPr>
        <p:spPr>
          <a:xfrm>
            <a:off x="548640" y="6153912"/>
            <a:ext cx="5394960" cy="228600"/>
          </a:xfrm>
          <a:prstGeom prst="rect">
            <a:avLst/>
          </a:prstGeom>
          <a:noFill/>
          <a:ln/>
        </p:spPr>
        <p:txBody>
          <a:bodyPr wrap="square" rtlCol="0" anchor="ctr"/>
          <a:lstStyle/>
          <a:p>
            <a:pPr algn="ctr" indent="0" marL="0">
              <a:buNone/>
            </a:pPr>
            <a:r>
              <a:rPr lang="en-US" sz="950" i="1" dirty="0">
                <a:solidFill>
                  <a:srgbClr val="5A6B7A"/>
                </a:solidFill>
                <a:latin typeface="Calibri" pitchFamily="34" charset="0"/>
                <a:ea typeface="Calibri" pitchFamily="34" charset="-122"/>
                <a:cs typeface="Calibri" pitchFamily="34" charset="-120"/>
              </a:rPr>
              <a:t>Interest Rendah → Tinggi</a:t>
            </a:r>
            <a:endParaRPr lang="en-US" sz="950" dirty="0"/>
          </a:p>
        </p:txBody>
      </p:sp>
      <p:sp>
        <p:nvSpPr>
          <p:cNvPr id="18" name="Text 16"/>
          <p:cNvSpPr/>
          <p:nvPr/>
        </p:nvSpPr>
        <p:spPr>
          <a:xfrm>
            <a:off x="6263640" y="1508760"/>
            <a:ext cx="5394960" cy="320040"/>
          </a:xfrm>
          <a:prstGeom prst="rect">
            <a:avLst/>
          </a:prstGeom>
          <a:noFill/>
          <a:ln/>
        </p:spPr>
        <p:txBody>
          <a:bodyPr wrap="square"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7 Deliverable Utama (WBS Level 2)</a:t>
            </a:r>
            <a:endParaRPr lang="en-US" sz="1300" dirty="0"/>
          </a:p>
        </p:txBody>
      </p:sp>
      <p:sp>
        <p:nvSpPr>
          <p:cNvPr id="19" name="Shape 17"/>
          <p:cNvSpPr/>
          <p:nvPr/>
        </p:nvSpPr>
        <p:spPr>
          <a:xfrm>
            <a:off x="6263640" y="1920240"/>
            <a:ext cx="5394960" cy="502920"/>
          </a:xfrm>
          <a:prstGeom prst="roundRect">
            <a:avLst>
              <a:gd name="adj" fmla="val 10909"/>
            </a:avLst>
          </a:prstGeom>
          <a:solidFill>
            <a:srgbClr val="F3F5F7"/>
          </a:solidFill>
          <a:ln/>
        </p:spPr>
      </p:sp>
      <p:sp>
        <p:nvSpPr>
          <p:cNvPr id="20" name="Text 18"/>
          <p:cNvSpPr/>
          <p:nvPr/>
        </p:nvSpPr>
        <p:spPr>
          <a:xfrm>
            <a:off x="6355080" y="1920240"/>
            <a:ext cx="365760" cy="502920"/>
          </a:xfrm>
          <a:prstGeom prst="rect">
            <a:avLst/>
          </a:prstGeom>
          <a:noFill/>
          <a:ln/>
        </p:spPr>
        <p:txBody>
          <a:bodyPr wrap="square" rtlCol="0" anchor="ctr"/>
          <a:lstStyle/>
          <a:p>
            <a:pPr algn="ctr" indent="0" marL="0">
              <a:buNone/>
            </a:pPr>
            <a:r>
              <a:rPr lang="en-US" sz="1300" b="1" dirty="0">
                <a:solidFill>
                  <a:srgbClr val="C9761A"/>
                </a:solidFill>
                <a:latin typeface="Calibri" pitchFamily="34" charset="0"/>
                <a:ea typeface="Calibri" pitchFamily="34" charset="-122"/>
                <a:cs typeface="Calibri" pitchFamily="34" charset="-120"/>
              </a:rPr>
              <a:t>1</a:t>
            </a:r>
            <a:endParaRPr lang="en-US" sz="1300" dirty="0"/>
          </a:p>
        </p:txBody>
      </p:sp>
      <p:sp>
        <p:nvSpPr>
          <p:cNvPr id="21" name="Text 19"/>
          <p:cNvSpPr/>
          <p:nvPr/>
        </p:nvSpPr>
        <p:spPr>
          <a:xfrm>
            <a:off x="6766560" y="1920240"/>
            <a:ext cx="4800600" cy="502920"/>
          </a:xfrm>
          <a:prstGeom prst="rect">
            <a:avLst/>
          </a:prstGeom>
          <a:noFill/>
          <a:ln/>
        </p:spPr>
        <p:txBody>
          <a:bodyPr wrap="square" rtlCol="0" anchor="ctr"/>
          <a:lstStyle/>
          <a:p>
            <a:pPr indent="0" marL="0">
              <a:buNone/>
            </a:pPr>
            <a:r>
              <a:rPr lang="en-US" sz="1250" dirty="0">
                <a:solidFill>
                  <a:srgbClr val="222A32"/>
                </a:solidFill>
                <a:latin typeface="Calibri" pitchFamily="34" charset="0"/>
                <a:ea typeface="Calibri" pitchFamily="34" charset="-122"/>
                <a:cs typeface="Calibri" pitchFamily="34" charset="-120"/>
              </a:rPr>
              <a:t>Manajemen Proyek</a:t>
            </a:r>
            <a:endParaRPr lang="en-US" sz="1250" dirty="0"/>
          </a:p>
        </p:txBody>
      </p:sp>
      <p:sp>
        <p:nvSpPr>
          <p:cNvPr id="22" name="Shape 20"/>
          <p:cNvSpPr/>
          <p:nvPr/>
        </p:nvSpPr>
        <p:spPr>
          <a:xfrm>
            <a:off x="6263640" y="2505456"/>
            <a:ext cx="5394960" cy="502920"/>
          </a:xfrm>
          <a:prstGeom prst="roundRect">
            <a:avLst>
              <a:gd name="adj" fmla="val 10909"/>
            </a:avLst>
          </a:prstGeom>
          <a:solidFill>
            <a:srgbClr val="F3F5F7"/>
          </a:solidFill>
          <a:ln/>
        </p:spPr>
      </p:sp>
      <p:sp>
        <p:nvSpPr>
          <p:cNvPr id="23" name="Text 21"/>
          <p:cNvSpPr/>
          <p:nvPr/>
        </p:nvSpPr>
        <p:spPr>
          <a:xfrm>
            <a:off x="6355080" y="2505456"/>
            <a:ext cx="365760" cy="502920"/>
          </a:xfrm>
          <a:prstGeom prst="rect">
            <a:avLst/>
          </a:prstGeom>
          <a:noFill/>
          <a:ln/>
        </p:spPr>
        <p:txBody>
          <a:bodyPr wrap="square" rtlCol="0" anchor="ctr"/>
          <a:lstStyle/>
          <a:p>
            <a:pPr algn="ctr" indent="0" marL="0">
              <a:buNone/>
            </a:pPr>
            <a:r>
              <a:rPr lang="en-US" sz="1300" b="1" dirty="0">
                <a:solidFill>
                  <a:srgbClr val="C9761A"/>
                </a:solidFill>
                <a:latin typeface="Calibri" pitchFamily="34" charset="0"/>
                <a:ea typeface="Calibri" pitchFamily="34" charset="-122"/>
                <a:cs typeface="Calibri" pitchFamily="34" charset="-120"/>
              </a:rPr>
              <a:t>2</a:t>
            </a:r>
            <a:endParaRPr lang="en-US" sz="1300" dirty="0"/>
          </a:p>
        </p:txBody>
      </p:sp>
      <p:sp>
        <p:nvSpPr>
          <p:cNvPr id="24" name="Text 22"/>
          <p:cNvSpPr/>
          <p:nvPr/>
        </p:nvSpPr>
        <p:spPr>
          <a:xfrm>
            <a:off x="6766560" y="2505456"/>
            <a:ext cx="4800600" cy="502920"/>
          </a:xfrm>
          <a:prstGeom prst="rect">
            <a:avLst/>
          </a:prstGeom>
          <a:noFill/>
          <a:ln/>
        </p:spPr>
        <p:txBody>
          <a:bodyPr wrap="square" rtlCol="0" anchor="ctr"/>
          <a:lstStyle/>
          <a:p>
            <a:pPr indent="0" marL="0">
              <a:buNone/>
            </a:pPr>
            <a:r>
              <a:rPr lang="en-US" sz="1250" dirty="0">
                <a:solidFill>
                  <a:srgbClr val="222A32"/>
                </a:solidFill>
                <a:latin typeface="Calibri" pitchFamily="34" charset="0"/>
                <a:ea typeface="Calibri" pitchFamily="34" charset="-122"/>
                <a:cs typeface="Calibri" pitchFamily="34" charset="-120"/>
              </a:rPr>
              <a:t>Modul Keuangan Proyek</a:t>
            </a:r>
            <a:endParaRPr lang="en-US" sz="1250" dirty="0"/>
          </a:p>
        </p:txBody>
      </p:sp>
      <p:sp>
        <p:nvSpPr>
          <p:cNvPr id="25" name="Shape 23"/>
          <p:cNvSpPr/>
          <p:nvPr/>
        </p:nvSpPr>
        <p:spPr>
          <a:xfrm>
            <a:off x="6263640" y="3090672"/>
            <a:ext cx="5394960" cy="502920"/>
          </a:xfrm>
          <a:prstGeom prst="roundRect">
            <a:avLst>
              <a:gd name="adj" fmla="val 10909"/>
            </a:avLst>
          </a:prstGeom>
          <a:solidFill>
            <a:srgbClr val="F3F5F7"/>
          </a:solidFill>
          <a:ln/>
        </p:spPr>
      </p:sp>
      <p:sp>
        <p:nvSpPr>
          <p:cNvPr id="26" name="Text 24"/>
          <p:cNvSpPr/>
          <p:nvPr/>
        </p:nvSpPr>
        <p:spPr>
          <a:xfrm>
            <a:off x="6355080" y="3090672"/>
            <a:ext cx="365760" cy="502920"/>
          </a:xfrm>
          <a:prstGeom prst="rect">
            <a:avLst/>
          </a:prstGeom>
          <a:noFill/>
          <a:ln/>
        </p:spPr>
        <p:txBody>
          <a:bodyPr wrap="square" rtlCol="0" anchor="ctr"/>
          <a:lstStyle/>
          <a:p>
            <a:pPr algn="ctr" indent="0" marL="0">
              <a:buNone/>
            </a:pPr>
            <a:r>
              <a:rPr lang="en-US" sz="1300" b="1" dirty="0">
                <a:solidFill>
                  <a:srgbClr val="C9761A"/>
                </a:solidFill>
                <a:latin typeface="Calibri" pitchFamily="34" charset="0"/>
                <a:ea typeface="Calibri" pitchFamily="34" charset="-122"/>
                <a:cs typeface="Calibri" pitchFamily="34" charset="-120"/>
              </a:rPr>
              <a:t>3</a:t>
            </a:r>
            <a:endParaRPr lang="en-US" sz="1300" dirty="0"/>
          </a:p>
        </p:txBody>
      </p:sp>
      <p:sp>
        <p:nvSpPr>
          <p:cNvPr id="27" name="Text 25"/>
          <p:cNvSpPr/>
          <p:nvPr/>
        </p:nvSpPr>
        <p:spPr>
          <a:xfrm>
            <a:off x="6766560" y="3090672"/>
            <a:ext cx="4800600" cy="502920"/>
          </a:xfrm>
          <a:prstGeom prst="rect">
            <a:avLst/>
          </a:prstGeom>
          <a:noFill/>
          <a:ln/>
        </p:spPr>
        <p:txBody>
          <a:bodyPr wrap="square" rtlCol="0" anchor="ctr"/>
          <a:lstStyle/>
          <a:p>
            <a:pPr indent="0" marL="0">
              <a:buNone/>
            </a:pPr>
            <a:r>
              <a:rPr lang="en-US" sz="1250" dirty="0">
                <a:solidFill>
                  <a:srgbClr val="222A32"/>
                </a:solidFill>
                <a:latin typeface="Calibri" pitchFamily="34" charset="0"/>
                <a:ea typeface="Calibri" pitchFamily="34" charset="-122"/>
                <a:cs typeface="Calibri" pitchFamily="34" charset="-120"/>
              </a:rPr>
              <a:t>Modul Logistik &amp; Pergudangan</a:t>
            </a:r>
            <a:endParaRPr lang="en-US" sz="1250" dirty="0"/>
          </a:p>
        </p:txBody>
      </p:sp>
      <p:sp>
        <p:nvSpPr>
          <p:cNvPr id="28" name="Shape 26"/>
          <p:cNvSpPr/>
          <p:nvPr/>
        </p:nvSpPr>
        <p:spPr>
          <a:xfrm>
            <a:off x="6263640" y="3675888"/>
            <a:ext cx="5394960" cy="502920"/>
          </a:xfrm>
          <a:prstGeom prst="roundRect">
            <a:avLst>
              <a:gd name="adj" fmla="val 10909"/>
            </a:avLst>
          </a:prstGeom>
          <a:solidFill>
            <a:srgbClr val="F3F5F7"/>
          </a:solidFill>
          <a:ln/>
        </p:spPr>
      </p:sp>
      <p:sp>
        <p:nvSpPr>
          <p:cNvPr id="29" name="Text 27"/>
          <p:cNvSpPr/>
          <p:nvPr/>
        </p:nvSpPr>
        <p:spPr>
          <a:xfrm>
            <a:off x="6355080" y="3675888"/>
            <a:ext cx="365760" cy="502920"/>
          </a:xfrm>
          <a:prstGeom prst="rect">
            <a:avLst/>
          </a:prstGeom>
          <a:noFill/>
          <a:ln/>
        </p:spPr>
        <p:txBody>
          <a:bodyPr wrap="square" rtlCol="0" anchor="ctr"/>
          <a:lstStyle/>
          <a:p>
            <a:pPr algn="ctr" indent="0" marL="0">
              <a:buNone/>
            </a:pPr>
            <a:r>
              <a:rPr lang="en-US" sz="1300" b="1" dirty="0">
                <a:solidFill>
                  <a:srgbClr val="C9761A"/>
                </a:solidFill>
                <a:latin typeface="Calibri" pitchFamily="34" charset="0"/>
                <a:ea typeface="Calibri" pitchFamily="34" charset="-122"/>
                <a:cs typeface="Calibri" pitchFamily="34" charset="-120"/>
              </a:rPr>
              <a:t>4</a:t>
            </a:r>
            <a:endParaRPr lang="en-US" sz="1300" dirty="0"/>
          </a:p>
        </p:txBody>
      </p:sp>
      <p:sp>
        <p:nvSpPr>
          <p:cNvPr id="30" name="Text 28"/>
          <p:cNvSpPr/>
          <p:nvPr/>
        </p:nvSpPr>
        <p:spPr>
          <a:xfrm>
            <a:off x="6766560" y="3675888"/>
            <a:ext cx="4800600" cy="502920"/>
          </a:xfrm>
          <a:prstGeom prst="rect">
            <a:avLst/>
          </a:prstGeom>
          <a:noFill/>
          <a:ln/>
        </p:spPr>
        <p:txBody>
          <a:bodyPr wrap="square" rtlCol="0" anchor="ctr"/>
          <a:lstStyle/>
          <a:p>
            <a:pPr indent="0" marL="0">
              <a:buNone/>
            </a:pPr>
            <a:r>
              <a:rPr lang="en-US" sz="1250" dirty="0">
                <a:solidFill>
                  <a:srgbClr val="222A32"/>
                </a:solidFill>
                <a:latin typeface="Calibri" pitchFamily="34" charset="0"/>
                <a:ea typeface="Calibri" pitchFamily="34" charset="-122"/>
                <a:cs typeface="Calibri" pitchFamily="34" charset="-120"/>
              </a:rPr>
              <a:t>Modul Sumber Daya Manusia</a:t>
            </a:r>
            <a:endParaRPr lang="en-US" sz="1250" dirty="0"/>
          </a:p>
        </p:txBody>
      </p:sp>
      <p:sp>
        <p:nvSpPr>
          <p:cNvPr id="31" name="Shape 29"/>
          <p:cNvSpPr/>
          <p:nvPr/>
        </p:nvSpPr>
        <p:spPr>
          <a:xfrm>
            <a:off x="6263640" y="4261104"/>
            <a:ext cx="5394960" cy="502920"/>
          </a:xfrm>
          <a:prstGeom prst="roundRect">
            <a:avLst>
              <a:gd name="adj" fmla="val 10909"/>
            </a:avLst>
          </a:prstGeom>
          <a:solidFill>
            <a:srgbClr val="F3F5F7"/>
          </a:solidFill>
          <a:ln/>
        </p:spPr>
      </p:sp>
      <p:sp>
        <p:nvSpPr>
          <p:cNvPr id="32" name="Text 30"/>
          <p:cNvSpPr/>
          <p:nvPr/>
        </p:nvSpPr>
        <p:spPr>
          <a:xfrm>
            <a:off x="6355080" y="4261104"/>
            <a:ext cx="365760" cy="502920"/>
          </a:xfrm>
          <a:prstGeom prst="rect">
            <a:avLst/>
          </a:prstGeom>
          <a:noFill/>
          <a:ln/>
        </p:spPr>
        <p:txBody>
          <a:bodyPr wrap="square" rtlCol="0" anchor="ctr"/>
          <a:lstStyle/>
          <a:p>
            <a:pPr algn="ctr" indent="0" marL="0">
              <a:buNone/>
            </a:pPr>
            <a:r>
              <a:rPr lang="en-US" sz="1300" b="1" dirty="0">
                <a:solidFill>
                  <a:srgbClr val="C9761A"/>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6766560" y="4261104"/>
            <a:ext cx="4800600" cy="502920"/>
          </a:xfrm>
          <a:prstGeom prst="rect">
            <a:avLst/>
          </a:prstGeom>
          <a:noFill/>
          <a:ln/>
        </p:spPr>
        <p:txBody>
          <a:bodyPr wrap="square" rtlCol="0" anchor="ctr"/>
          <a:lstStyle/>
          <a:p>
            <a:pPr indent="0" marL="0">
              <a:buNone/>
            </a:pPr>
            <a:r>
              <a:rPr lang="en-US" sz="1250" dirty="0">
                <a:solidFill>
                  <a:srgbClr val="222A32"/>
                </a:solidFill>
                <a:latin typeface="Calibri" pitchFamily="34" charset="0"/>
                <a:ea typeface="Calibri" pitchFamily="34" charset="-122"/>
                <a:cs typeface="Calibri" pitchFamily="34" charset="-120"/>
              </a:rPr>
              <a:t>Dashboard Eksekutif &amp; Pelaporan</a:t>
            </a:r>
            <a:endParaRPr lang="en-US" sz="1250" dirty="0"/>
          </a:p>
        </p:txBody>
      </p:sp>
      <p:sp>
        <p:nvSpPr>
          <p:cNvPr id="34" name="Shape 32"/>
          <p:cNvSpPr/>
          <p:nvPr/>
        </p:nvSpPr>
        <p:spPr>
          <a:xfrm>
            <a:off x="6263640" y="4846320"/>
            <a:ext cx="5394960" cy="502920"/>
          </a:xfrm>
          <a:prstGeom prst="roundRect">
            <a:avLst>
              <a:gd name="adj" fmla="val 10909"/>
            </a:avLst>
          </a:prstGeom>
          <a:solidFill>
            <a:srgbClr val="F3F5F7"/>
          </a:solidFill>
          <a:ln/>
        </p:spPr>
      </p:sp>
      <p:sp>
        <p:nvSpPr>
          <p:cNvPr id="35" name="Text 33"/>
          <p:cNvSpPr/>
          <p:nvPr/>
        </p:nvSpPr>
        <p:spPr>
          <a:xfrm>
            <a:off x="6355080" y="4846320"/>
            <a:ext cx="365760" cy="502920"/>
          </a:xfrm>
          <a:prstGeom prst="rect">
            <a:avLst/>
          </a:prstGeom>
          <a:noFill/>
          <a:ln/>
        </p:spPr>
        <p:txBody>
          <a:bodyPr wrap="square" rtlCol="0" anchor="ctr"/>
          <a:lstStyle/>
          <a:p>
            <a:pPr algn="ctr" indent="0" marL="0">
              <a:buNone/>
            </a:pPr>
            <a:r>
              <a:rPr lang="en-US" sz="1300" b="1" dirty="0">
                <a:solidFill>
                  <a:srgbClr val="C9761A"/>
                </a:solidFill>
                <a:latin typeface="Calibri" pitchFamily="34" charset="0"/>
                <a:ea typeface="Calibri" pitchFamily="34" charset="-122"/>
                <a:cs typeface="Calibri" pitchFamily="34" charset="-120"/>
              </a:rPr>
              <a:t>6</a:t>
            </a:r>
            <a:endParaRPr lang="en-US" sz="1300" dirty="0"/>
          </a:p>
        </p:txBody>
      </p:sp>
      <p:sp>
        <p:nvSpPr>
          <p:cNvPr id="36" name="Text 34"/>
          <p:cNvSpPr/>
          <p:nvPr/>
        </p:nvSpPr>
        <p:spPr>
          <a:xfrm>
            <a:off x="6766560" y="4846320"/>
            <a:ext cx="4800600" cy="502920"/>
          </a:xfrm>
          <a:prstGeom prst="rect">
            <a:avLst/>
          </a:prstGeom>
          <a:noFill/>
          <a:ln/>
        </p:spPr>
        <p:txBody>
          <a:bodyPr wrap="square" rtlCol="0" anchor="ctr"/>
          <a:lstStyle/>
          <a:p>
            <a:pPr indent="0" marL="0">
              <a:buNone/>
            </a:pPr>
            <a:r>
              <a:rPr lang="en-US" sz="1250" dirty="0">
                <a:solidFill>
                  <a:srgbClr val="222A32"/>
                </a:solidFill>
                <a:latin typeface="Calibri" pitchFamily="34" charset="0"/>
                <a:ea typeface="Calibri" pitchFamily="34" charset="-122"/>
                <a:cs typeface="Calibri" pitchFamily="34" charset="-120"/>
              </a:rPr>
              <a:t>Aplikasi Mobile Site Manager</a:t>
            </a:r>
            <a:endParaRPr lang="en-US" sz="1250" dirty="0"/>
          </a:p>
        </p:txBody>
      </p:sp>
      <p:sp>
        <p:nvSpPr>
          <p:cNvPr id="37" name="Shape 35"/>
          <p:cNvSpPr/>
          <p:nvPr/>
        </p:nvSpPr>
        <p:spPr>
          <a:xfrm>
            <a:off x="6263640" y="5431536"/>
            <a:ext cx="5394960" cy="502920"/>
          </a:xfrm>
          <a:prstGeom prst="roundRect">
            <a:avLst>
              <a:gd name="adj" fmla="val 10909"/>
            </a:avLst>
          </a:prstGeom>
          <a:solidFill>
            <a:srgbClr val="F3F5F7"/>
          </a:solidFill>
          <a:ln/>
        </p:spPr>
      </p:sp>
      <p:sp>
        <p:nvSpPr>
          <p:cNvPr id="38" name="Text 36"/>
          <p:cNvSpPr/>
          <p:nvPr/>
        </p:nvSpPr>
        <p:spPr>
          <a:xfrm>
            <a:off x="6355080" y="5431536"/>
            <a:ext cx="365760" cy="502920"/>
          </a:xfrm>
          <a:prstGeom prst="rect">
            <a:avLst/>
          </a:prstGeom>
          <a:noFill/>
          <a:ln/>
        </p:spPr>
        <p:txBody>
          <a:bodyPr wrap="square" rtlCol="0" anchor="ctr"/>
          <a:lstStyle/>
          <a:p>
            <a:pPr algn="ctr" indent="0" marL="0">
              <a:buNone/>
            </a:pPr>
            <a:r>
              <a:rPr lang="en-US" sz="1300" b="1" dirty="0">
                <a:solidFill>
                  <a:srgbClr val="C9761A"/>
                </a:solidFill>
                <a:latin typeface="Calibri" pitchFamily="34" charset="0"/>
                <a:ea typeface="Calibri" pitchFamily="34" charset="-122"/>
                <a:cs typeface="Calibri" pitchFamily="34" charset="-120"/>
              </a:rPr>
              <a:t>7</a:t>
            </a:r>
            <a:endParaRPr lang="en-US" sz="1300" dirty="0"/>
          </a:p>
        </p:txBody>
      </p:sp>
      <p:sp>
        <p:nvSpPr>
          <p:cNvPr id="39" name="Text 37"/>
          <p:cNvSpPr/>
          <p:nvPr/>
        </p:nvSpPr>
        <p:spPr>
          <a:xfrm>
            <a:off x="6766560" y="5431536"/>
            <a:ext cx="4800600" cy="502920"/>
          </a:xfrm>
          <a:prstGeom prst="rect">
            <a:avLst/>
          </a:prstGeom>
          <a:noFill/>
          <a:ln/>
        </p:spPr>
        <p:txBody>
          <a:bodyPr wrap="square" rtlCol="0" anchor="ctr"/>
          <a:lstStyle/>
          <a:p>
            <a:pPr indent="0" marL="0">
              <a:buNone/>
            </a:pPr>
            <a:r>
              <a:rPr lang="en-US" sz="1250" dirty="0">
                <a:solidFill>
                  <a:srgbClr val="222A32"/>
                </a:solidFill>
                <a:latin typeface="Calibri" pitchFamily="34" charset="0"/>
                <a:ea typeface="Calibri" pitchFamily="34" charset="-122"/>
                <a:cs typeface="Calibri" pitchFamily="34" charset="-120"/>
              </a:rPr>
              <a:t>Pelatihan &amp; Implementasi</a:t>
            </a:r>
            <a:endParaRPr lang="en-US" sz="1250" dirty="0"/>
          </a:p>
        </p:txBody>
      </p:sp>
      <p:sp>
        <p:nvSpPr>
          <p:cNvPr id="40" name="Text 3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5A6B7A"/>
                </a:solidFill>
                <a:latin typeface="Calibri" pitchFamily="34" charset="0"/>
                <a:ea typeface="Calibri" pitchFamily="34" charset="-122"/>
                <a:cs typeface="Calibri" pitchFamily="34" charset="-120"/>
              </a:rPr>
              <a:t>Stakeholder &amp; Work Breakdown Structure</a:t>
            </a:r>
            <a:endParaRPr lang="en-US" sz="900" dirty="0"/>
          </a:p>
        </p:txBody>
      </p:sp>
      <p:sp>
        <p:nvSpPr>
          <p:cNvPr id="41" name="Text 39"/>
          <p:cNvSpPr/>
          <p:nvPr/>
        </p:nvSpPr>
        <p:spPr>
          <a:xfrm>
            <a:off x="9262872" y="6473952"/>
            <a:ext cx="24688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SIMProKon  •  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100" kern="0" dirty="0">
                <a:solidFill>
                  <a:srgbClr val="C9761A"/>
                </a:solidFill>
                <a:latin typeface="Calibri" pitchFamily="34" charset="0"/>
                <a:ea typeface="Calibri" pitchFamily="34" charset="-122"/>
                <a:cs typeface="Calibri" pitchFamily="34" charset="-120"/>
              </a:rPr>
              <a:t>04   PENJADWALAN &amp; METODOLOGI</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indent="0" marL="0">
              <a:buNone/>
            </a:pPr>
            <a:r>
              <a:rPr lang="en-US" sz="2700" b="1" dirty="0">
                <a:solidFill>
                  <a:srgbClr val="1B3A5C"/>
                </a:solidFill>
                <a:latin typeface="Cambria" pitchFamily="34" charset="0"/>
                <a:ea typeface="Cambria" pitchFamily="34" charset="-122"/>
                <a:cs typeface="Cambria" pitchFamily="34" charset="-120"/>
              </a:rPr>
              <a:t>Waterfall &amp; Analisis Jalur Kritis (CPM)</a:t>
            </a:r>
            <a:endParaRPr lang="en-US" sz="2700" dirty="0"/>
          </a:p>
        </p:txBody>
      </p:sp>
      <p:sp>
        <p:nvSpPr>
          <p:cNvPr id="4" name="Text 2"/>
          <p:cNvSpPr/>
          <p:nvPr/>
        </p:nvSpPr>
        <p:spPr>
          <a:xfrm>
            <a:off x="548640" y="1463040"/>
            <a:ext cx="5120640" cy="320040"/>
          </a:xfrm>
          <a:prstGeom prst="rect">
            <a:avLst/>
          </a:prstGeom>
          <a:noFill/>
          <a:ln/>
        </p:spPr>
        <p:txBody>
          <a:bodyPr wrap="square" rtlCol="0" anchor="ctr"/>
          <a:lstStyle/>
          <a:p>
            <a:pPr indent="0" marL="0">
              <a:buNone/>
            </a:pPr>
            <a:r>
              <a:rPr lang="en-US" sz="1450" b="1" dirty="0">
                <a:solidFill>
                  <a:srgbClr val="1B3A5C"/>
                </a:solidFill>
                <a:latin typeface="Calibri" pitchFamily="34" charset="0"/>
                <a:ea typeface="Calibri" pitchFamily="34" charset="-122"/>
                <a:cs typeface="Calibri" pitchFamily="34" charset="-120"/>
              </a:rPr>
              <a:t>Mengapa Waterfall?</a:t>
            </a:r>
            <a:endParaRPr lang="en-US" sz="1450" dirty="0"/>
          </a:p>
        </p:txBody>
      </p:sp>
      <p:sp>
        <p:nvSpPr>
          <p:cNvPr id="5" name="Shape 3"/>
          <p:cNvSpPr/>
          <p:nvPr/>
        </p:nvSpPr>
        <p:spPr>
          <a:xfrm>
            <a:off x="548640" y="1920240"/>
            <a:ext cx="109728" cy="109728"/>
          </a:xfrm>
          <a:prstGeom prst="ellipse">
            <a:avLst/>
          </a:prstGeom>
          <a:solidFill>
            <a:srgbClr val="E8912D"/>
          </a:solidFill>
          <a:ln/>
        </p:spPr>
      </p:sp>
      <p:sp>
        <p:nvSpPr>
          <p:cNvPr id="6" name="Text 4"/>
          <p:cNvSpPr/>
          <p:nvPr/>
        </p:nvSpPr>
        <p:spPr>
          <a:xfrm>
            <a:off x="822960" y="1801368"/>
            <a:ext cx="4937760" cy="548640"/>
          </a:xfrm>
          <a:prstGeom prst="rect">
            <a:avLst/>
          </a:prstGeom>
          <a:noFill/>
          <a:ln/>
        </p:spPr>
        <p:txBody>
          <a:bodyPr wrap="square" rtlCol="0" anchor="ctr"/>
          <a:lstStyle/>
          <a:p>
            <a:pPr indent="0" marL="0">
              <a:lnSpc>
                <a:spcPts val="1400"/>
              </a:lnSpc>
              <a:buNone/>
            </a:pPr>
            <a:r>
              <a:rPr lang="en-US" sz="1200" dirty="0">
                <a:solidFill>
                  <a:srgbClr val="222A32"/>
                </a:solidFill>
                <a:latin typeface="Calibri" pitchFamily="34" charset="0"/>
                <a:ea typeface="Calibri" pitchFamily="34" charset="-122"/>
                <a:cs typeface="Calibri" pitchFamily="34" charset="-120"/>
              </a:rPr>
              <a:t>Kebutuhan sistem sudah baku, mengikuti prosedur operasi standar konstruksi</a:t>
            </a:r>
            <a:endParaRPr lang="en-US" sz="1200" dirty="0"/>
          </a:p>
        </p:txBody>
      </p:sp>
      <p:sp>
        <p:nvSpPr>
          <p:cNvPr id="7" name="Shape 5"/>
          <p:cNvSpPr/>
          <p:nvPr/>
        </p:nvSpPr>
        <p:spPr>
          <a:xfrm>
            <a:off x="548640" y="2542032"/>
            <a:ext cx="109728" cy="109728"/>
          </a:xfrm>
          <a:prstGeom prst="ellipse">
            <a:avLst/>
          </a:prstGeom>
          <a:solidFill>
            <a:srgbClr val="E8912D"/>
          </a:solidFill>
          <a:ln/>
        </p:spPr>
      </p:sp>
      <p:sp>
        <p:nvSpPr>
          <p:cNvPr id="8" name="Text 6"/>
          <p:cNvSpPr/>
          <p:nvPr/>
        </p:nvSpPr>
        <p:spPr>
          <a:xfrm>
            <a:off x="822960" y="2423160"/>
            <a:ext cx="4937760" cy="548640"/>
          </a:xfrm>
          <a:prstGeom prst="rect">
            <a:avLst/>
          </a:prstGeom>
          <a:noFill/>
          <a:ln/>
        </p:spPr>
        <p:txBody>
          <a:bodyPr wrap="square" rtlCol="0" anchor="ctr"/>
          <a:lstStyle/>
          <a:p>
            <a:pPr indent="0" marL="0">
              <a:lnSpc>
                <a:spcPts val="1400"/>
              </a:lnSpc>
              <a:buNone/>
            </a:pPr>
            <a:r>
              <a:rPr lang="en-US" sz="1200" dirty="0">
                <a:solidFill>
                  <a:srgbClr val="222A32"/>
                </a:solidFill>
                <a:latin typeface="Calibri" pitchFamily="34" charset="0"/>
                <a:ea typeface="Calibri" pitchFamily="34" charset="-122"/>
                <a:cs typeface="Calibri" pitchFamily="34" charset="-120"/>
              </a:rPr>
              <a:t>Budaya dokumentasi perusahaan kuat, setiap tahap wajib terarsip untuk audit</a:t>
            </a:r>
            <a:endParaRPr lang="en-US" sz="1200" dirty="0"/>
          </a:p>
        </p:txBody>
      </p:sp>
      <p:sp>
        <p:nvSpPr>
          <p:cNvPr id="9" name="Shape 7"/>
          <p:cNvSpPr/>
          <p:nvPr/>
        </p:nvSpPr>
        <p:spPr>
          <a:xfrm>
            <a:off x="548640" y="3163824"/>
            <a:ext cx="109728" cy="109728"/>
          </a:xfrm>
          <a:prstGeom prst="ellipse">
            <a:avLst/>
          </a:prstGeom>
          <a:solidFill>
            <a:srgbClr val="E8912D"/>
          </a:solidFill>
          <a:ln/>
        </p:spPr>
      </p:sp>
      <p:sp>
        <p:nvSpPr>
          <p:cNvPr id="10" name="Text 8"/>
          <p:cNvSpPr/>
          <p:nvPr/>
        </p:nvSpPr>
        <p:spPr>
          <a:xfrm>
            <a:off x="822960" y="3044952"/>
            <a:ext cx="4937760" cy="548640"/>
          </a:xfrm>
          <a:prstGeom prst="rect">
            <a:avLst/>
          </a:prstGeom>
          <a:noFill/>
          <a:ln/>
        </p:spPr>
        <p:txBody>
          <a:bodyPr wrap="square" rtlCol="0" anchor="ctr"/>
          <a:lstStyle/>
          <a:p>
            <a:pPr indent="0" marL="0">
              <a:lnSpc>
                <a:spcPts val="1400"/>
              </a:lnSpc>
              <a:buNone/>
            </a:pPr>
            <a:r>
              <a:rPr lang="en-US" sz="1200" dirty="0">
                <a:solidFill>
                  <a:srgbClr val="222A32"/>
                </a:solidFill>
                <a:latin typeface="Calibri" pitchFamily="34" charset="0"/>
                <a:ea typeface="Calibri" pitchFamily="34" charset="-122"/>
                <a:cs typeface="Calibri" pitchFamily="34" charset="-120"/>
              </a:rPr>
              <a:t>Tim internal belum terbiasa dengan ritme Agile/Scrum</a:t>
            </a:r>
            <a:endParaRPr lang="en-US" sz="1200" dirty="0"/>
          </a:p>
        </p:txBody>
      </p:sp>
      <p:sp>
        <p:nvSpPr>
          <p:cNvPr id="11" name="Shape 9"/>
          <p:cNvSpPr/>
          <p:nvPr/>
        </p:nvSpPr>
        <p:spPr>
          <a:xfrm>
            <a:off x="548640" y="3785616"/>
            <a:ext cx="109728" cy="109728"/>
          </a:xfrm>
          <a:prstGeom prst="ellipse">
            <a:avLst/>
          </a:prstGeom>
          <a:solidFill>
            <a:srgbClr val="E8912D"/>
          </a:solidFill>
          <a:ln/>
        </p:spPr>
      </p:sp>
      <p:sp>
        <p:nvSpPr>
          <p:cNvPr id="12" name="Text 10"/>
          <p:cNvSpPr/>
          <p:nvPr/>
        </p:nvSpPr>
        <p:spPr>
          <a:xfrm>
            <a:off x="822960" y="3666744"/>
            <a:ext cx="4937760" cy="548640"/>
          </a:xfrm>
          <a:prstGeom prst="rect">
            <a:avLst/>
          </a:prstGeom>
          <a:noFill/>
          <a:ln/>
        </p:spPr>
        <p:txBody>
          <a:bodyPr wrap="square" rtlCol="0" anchor="ctr"/>
          <a:lstStyle/>
          <a:p>
            <a:pPr indent="0" marL="0">
              <a:lnSpc>
                <a:spcPts val="1400"/>
              </a:lnSpc>
              <a:buNone/>
            </a:pPr>
            <a:r>
              <a:rPr lang="en-US" sz="1200" dirty="0">
                <a:solidFill>
                  <a:srgbClr val="222A32"/>
                </a:solidFill>
                <a:latin typeface="Calibri" pitchFamily="34" charset="0"/>
                <a:ea typeface="Calibri" pitchFamily="34" charset="-122"/>
                <a:cs typeface="Calibri" pitchFamily="34" charset="-120"/>
              </a:rPr>
              <a:t>Manajemen menginginkan milestone yang terukur secara jelas per tahap</a:t>
            </a:r>
            <a:endParaRPr lang="en-US" sz="1200" dirty="0"/>
          </a:p>
        </p:txBody>
      </p:sp>
      <p:sp>
        <p:nvSpPr>
          <p:cNvPr id="13" name="Shape 11"/>
          <p:cNvSpPr/>
          <p:nvPr/>
        </p:nvSpPr>
        <p:spPr>
          <a:xfrm>
            <a:off x="6172200" y="1463040"/>
            <a:ext cx="5468112" cy="2331720"/>
          </a:xfrm>
          <a:prstGeom prst="roundRect">
            <a:avLst>
              <a:gd name="adj" fmla="val 3137"/>
            </a:avLst>
          </a:prstGeom>
          <a:solidFill>
            <a:srgbClr val="1B3A5C"/>
          </a:solidFill>
          <a:ln/>
        </p:spPr>
      </p:sp>
      <p:sp>
        <p:nvSpPr>
          <p:cNvPr id="14" name="Text 12"/>
          <p:cNvSpPr/>
          <p:nvPr/>
        </p:nvSpPr>
        <p:spPr>
          <a:xfrm>
            <a:off x="6172200" y="1645920"/>
            <a:ext cx="5468112" cy="777240"/>
          </a:xfrm>
          <a:prstGeom prst="rect">
            <a:avLst/>
          </a:prstGeom>
          <a:noFill/>
          <a:ln/>
        </p:spPr>
        <p:txBody>
          <a:bodyPr wrap="square" rtlCol="0" anchor="ctr"/>
          <a:lstStyle/>
          <a:p>
            <a:pPr algn="ctr" indent="0" marL="0">
              <a:buNone/>
            </a:pPr>
            <a:r>
              <a:rPr lang="en-US" sz="3800" b="1" dirty="0">
                <a:solidFill>
                  <a:srgbClr val="E8912D"/>
                </a:solidFill>
                <a:latin typeface="Cambria" pitchFamily="34" charset="0"/>
                <a:ea typeface="Cambria" pitchFamily="34" charset="-122"/>
                <a:cs typeface="Cambria" pitchFamily="34" charset="-120"/>
              </a:rPr>
              <a:t>96 hari kerja</a:t>
            </a:r>
            <a:endParaRPr lang="en-US" sz="3800" dirty="0"/>
          </a:p>
        </p:txBody>
      </p:sp>
      <p:sp>
        <p:nvSpPr>
          <p:cNvPr id="15" name="Text 13"/>
          <p:cNvSpPr/>
          <p:nvPr/>
        </p:nvSpPr>
        <p:spPr>
          <a:xfrm>
            <a:off x="6492240" y="2423160"/>
            <a:ext cx="4846320" cy="548640"/>
          </a:xfrm>
          <a:prstGeom prst="rect">
            <a:avLst/>
          </a:prstGeom>
          <a:noFill/>
          <a:ln/>
        </p:spPr>
        <p:txBody>
          <a:bodyPr wrap="square" rtlCol="0" anchor="ctr"/>
          <a:lstStyle/>
          <a:p>
            <a:pPr algn="ctr" indent="0" marL="0">
              <a:lnSpc>
                <a:spcPts val="1500"/>
              </a:lnSpc>
              <a:buNone/>
            </a:pPr>
            <a:r>
              <a:rPr lang="en-US" sz="1200" dirty="0">
                <a:solidFill>
                  <a:srgbClr val="E7EDF2"/>
                </a:solidFill>
                <a:latin typeface="Calibri" pitchFamily="34" charset="0"/>
                <a:ea typeface="Calibri" pitchFamily="34" charset="-122"/>
                <a:cs typeface="Calibri" pitchFamily="34" charset="-120"/>
              </a:rPr>
              <a:t>Durasi jalur kritis (≈16 minggu) — masih di bawah alokasi 24 minggu, menyisakan buffer 8 minggu untuk risiko</a:t>
            </a:r>
            <a:endParaRPr lang="en-US" sz="1200" dirty="0"/>
          </a:p>
        </p:txBody>
      </p:sp>
      <p:sp>
        <p:nvSpPr>
          <p:cNvPr id="16" name="Text 14"/>
          <p:cNvSpPr/>
          <p:nvPr/>
        </p:nvSpPr>
        <p:spPr>
          <a:xfrm>
            <a:off x="6492240" y="3063240"/>
            <a:ext cx="4846320" cy="640080"/>
          </a:xfrm>
          <a:prstGeom prst="rect">
            <a:avLst/>
          </a:prstGeom>
          <a:noFill/>
          <a:ln/>
        </p:spPr>
        <p:txBody>
          <a:bodyPr wrap="square" rtlCol="0" anchor="ctr"/>
          <a:lstStyle/>
          <a:p>
            <a:pPr algn="ctr" indent="0" marL="0">
              <a:lnSpc>
                <a:spcPts val="1300"/>
              </a:lnSpc>
              <a:buNone/>
            </a:pPr>
            <a:r>
              <a:rPr lang="en-US" sz="1050" i="1" dirty="0">
                <a:solidFill>
                  <a:srgbClr val="C9D4DD"/>
                </a:solidFill>
                <a:latin typeface="Calibri" pitchFamily="34" charset="0"/>
                <a:ea typeface="Calibri" pitchFamily="34" charset="-122"/>
                <a:cs typeface="Calibri" pitchFamily="34" charset="-120"/>
              </a:rPr>
              <a:t>Jalur kritis: Kick-off → Requirement → Design → DB Design → Dev Modul PM → SIT → UAT → Migrasi → Deployment → Post Go-Live</a:t>
            </a:r>
            <a:endParaRPr lang="en-US" sz="1050" dirty="0"/>
          </a:p>
        </p:txBody>
      </p:sp>
      <p:sp>
        <p:nvSpPr>
          <p:cNvPr id="17" name="Text 15"/>
          <p:cNvSpPr/>
          <p:nvPr/>
        </p:nvSpPr>
        <p:spPr>
          <a:xfrm>
            <a:off x="6172200" y="3977640"/>
            <a:ext cx="5468112" cy="320040"/>
          </a:xfrm>
          <a:prstGeom prst="rect">
            <a:avLst/>
          </a:prstGeom>
          <a:noFill/>
          <a:ln/>
        </p:spPr>
        <p:txBody>
          <a:bodyPr wrap="square"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Total Float Aktivitas Non-Kritis</a:t>
            </a:r>
            <a:endParaRPr lang="en-US" sz="1300" dirty="0"/>
          </a:p>
        </p:txBody>
      </p:sp>
      <p:sp>
        <p:nvSpPr>
          <p:cNvPr id="18" name="Shape 16"/>
          <p:cNvSpPr/>
          <p:nvPr/>
        </p:nvSpPr>
        <p:spPr>
          <a:xfrm>
            <a:off x="6172200" y="4389120"/>
            <a:ext cx="1298448" cy="1234440"/>
          </a:xfrm>
          <a:prstGeom prst="roundRect">
            <a:avLst>
              <a:gd name="adj" fmla="val 4444"/>
            </a:avLst>
          </a:prstGeom>
          <a:solidFill>
            <a:srgbClr val="F3F5F7"/>
          </a:solidFill>
          <a:ln/>
        </p:spPr>
      </p:sp>
      <p:sp>
        <p:nvSpPr>
          <p:cNvPr id="19" name="Text 17"/>
          <p:cNvSpPr/>
          <p:nvPr/>
        </p:nvSpPr>
        <p:spPr>
          <a:xfrm>
            <a:off x="6172200" y="4526280"/>
            <a:ext cx="1298448" cy="502920"/>
          </a:xfrm>
          <a:prstGeom prst="rect">
            <a:avLst/>
          </a:prstGeom>
          <a:noFill/>
          <a:ln/>
        </p:spPr>
        <p:txBody>
          <a:bodyPr wrap="square" rtlCol="0" anchor="ctr"/>
          <a:lstStyle/>
          <a:p>
            <a:pPr algn="ctr" indent="0" marL="0">
              <a:buNone/>
            </a:pPr>
            <a:r>
              <a:rPr lang="en-US" sz="2000" b="1" dirty="0">
                <a:solidFill>
                  <a:srgbClr val="C9761A"/>
                </a:solidFill>
                <a:latin typeface="Cambria" pitchFamily="34" charset="0"/>
                <a:ea typeface="Cambria" pitchFamily="34" charset="-122"/>
                <a:cs typeface="Cambria" pitchFamily="34" charset="-120"/>
              </a:rPr>
              <a:t>5 hari</a:t>
            </a:r>
            <a:endParaRPr lang="en-US" sz="2000" dirty="0"/>
          </a:p>
        </p:txBody>
      </p:sp>
      <p:sp>
        <p:nvSpPr>
          <p:cNvPr id="20" name="Text 18"/>
          <p:cNvSpPr/>
          <p:nvPr/>
        </p:nvSpPr>
        <p:spPr>
          <a:xfrm>
            <a:off x="6217920" y="5029200"/>
            <a:ext cx="1207008" cy="502920"/>
          </a:xfrm>
          <a:prstGeom prst="rect">
            <a:avLst/>
          </a:prstGeom>
          <a:noFill/>
          <a:ln/>
        </p:spPr>
        <p:txBody>
          <a:bodyPr wrap="square" rtlCol="0" anchor="ctr"/>
          <a:lstStyle/>
          <a:p>
            <a:pPr algn="ctr" indent="0" marL="0">
              <a:lnSpc>
                <a:spcPts val="1100"/>
              </a:lnSpc>
              <a:buNone/>
            </a:pPr>
            <a:r>
              <a:rPr lang="en-US" sz="950" dirty="0">
                <a:solidFill>
                  <a:srgbClr val="222A32"/>
                </a:solidFill>
                <a:latin typeface="Calibri" pitchFamily="34" charset="0"/>
                <a:ea typeface="Calibri" pitchFamily="34" charset="-122"/>
                <a:cs typeface="Calibri" pitchFamily="34" charset="-120"/>
              </a:rPr>
              <a:t>Dev Logistik</a:t>
            </a:r>
            <a:endParaRPr lang="en-US" sz="950" dirty="0"/>
          </a:p>
        </p:txBody>
      </p:sp>
      <p:sp>
        <p:nvSpPr>
          <p:cNvPr id="21" name="Shape 19"/>
          <p:cNvSpPr/>
          <p:nvPr/>
        </p:nvSpPr>
        <p:spPr>
          <a:xfrm>
            <a:off x="7543800" y="4389120"/>
            <a:ext cx="1298448" cy="1234440"/>
          </a:xfrm>
          <a:prstGeom prst="roundRect">
            <a:avLst>
              <a:gd name="adj" fmla="val 4444"/>
            </a:avLst>
          </a:prstGeom>
          <a:solidFill>
            <a:srgbClr val="F3F5F7"/>
          </a:solidFill>
          <a:ln/>
        </p:spPr>
      </p:sp>
      <p:sp>
        <p:nvSpPr>
          <p:cNvPr id="22" name="Text 20"/>
          <p:cNvSpPr/>
          <p:nvPr/>
        </p:nvSpPr>
        <p:spPr>
          <a:xfrm>
            <a:off x="7543800" y="4526280"/>
            <a:ext cx="1298448" cy="502920"/>
          </a:xfrm>
          <a:prstGeom prst="rect">
            <a:avLst/>
          </a:prstGeom>
          <a:noFill/>
          <a:ln/>
        </p:spPr>
        <p:txBody>
          <a:bodyPr wrap="square" rtlCol="0" anchor="ctr"/>
          <a:lstStyle/>
          <a:p>
            <a:pPr algn="ctr" indent="0" marL="0">
              <a:buNone/>
            </a:pPr>
            <a:r>
              <a:rPr lang="en-US" sz="2000" b="1" dirty="0">
                <a:solidFill>
                  <a:srgbClr val="C9761A"/>
                </a:solidFill>
                <a:latin typeface="Cambria" pitchFamily="34" charset="0"/>
                <a:ea typeface="Cambria" pitchFamily="34" charset="-122"/>
                <a:cs typeface="Cambria" pitchFamily="34" charset="-120"/>
              </a:rPr>
              <a:t>10 hari</a:t>
            </a:r>
            <a:endParaRPr lang="en-US" sz="2000" dirty="0"/>
          </a:p>
        </p:txBody>
      </p:sp>
      <p:sp>
        <p:nvSpPr>
          <p:cNvPr id="23" name="Text 21"/>
          <p:cNvSpPr/>
          <p:nvPr/>
        </p:nvSpPr>
        <p:spPr>
          <a:xfrm>
            <a:off x="7589520" y="5029200"/>
            <a:ext cx="1207008" cy="502920"/>
          </a:xfrm>
          <a:prstGeom prst="rect">
            <a:avLst/>
          </a:prstGeom>
          <a:noFill/>
          <a:ln/>
        </p:spPr>
        <p:txBody>
          <a:bodyPr wrap="square" rtlCol="0" anchor="ctr"/>
          <a:lstStyle/>
          <a:p>
            <a:pPr algn="ctr" indent="0" marL="0">
              <a:lnSpc>
                <a:spcPts val="1100"/>
              </a:lnSpc>
              <a:buNone/>
            </a:pPr>
            <a:r>
              <a:rPr lang="en-US" sz="950" dirty="0">
                <a:solidFill>
                  <a:srgbClr val="222A32"/>
                </a:solidFill>
                <a:latin typeface="Calibri" pitchFamily="34" charset="0"/>
                <a:ea typeface="Calibri" pitchFamily="34" charset="-122"/>
                <a:cs typeface="Calibri" pitchFamily="34" charset="-120"/>
              </a:rPr>
              <a:t>Dev SDM</a:t>
            </a:r>
            <a:endParaRPr lang="en-US" sz="950" dirty="0"/>
          </a:p>
        </p:txBody>
      </p:sp>
      <p:sp>
        <p:nvSpPr>
          <p:cNvPr id="24" name="Shape 22"/>
          <p:cNvSpPr/>
          <p:nvPr/>
        </p:nvSpPr>
        <p:spPr>
          <a:xfrm>
            <a:off x="8915400" y="4389120"/>
            <a:ext cx="1298448" cy="1234440"/>
          </a:xfrm>
          <a:prstGeom prst="roundRect">
            <a:avLst>
              <a:gd name="adj" fmla="val 4444"/>
            </a:avLst>
          </a:prstGeom>
          <a:solidFill>
            <a:srgbClr val="F3F5F7"/>
          </a:solidFill>
          <a:ln/>
        </p:spPr>
      </p:sp>
      <p:sp>
        <p:nvSpPr>
          <p:cNvPr id="25" name="Text 23"/>
          <p:cNvSpPr/>
          <p:nvPr/>
        </p:nvSpPr>
        <p:spPr>
          <a:xfrm>
            <a:off x="8915400" y="4526280"/>
            <a:ext cx="1298448" cy="502920"/>
          </a:xfrm>
          <a:prstGeom prst="rect">
            <a:avLst/>
          </a:prstGeom>
          <a:noFill/>
          <a:ln/>
        </p:spPr>
        <p:txBody>
          <a:bodyPr wrap="square" rtlCol="0" anchor="ctr"/>
          <a:lstStyle/>
          <a:p>
            <a:pPr algn="ctr" indent="0" marL="0">
              <a:buNone/>
            </a:pPr>
            <a:r>
              <a:rPr lang="en-US" sz="2000" b="1" dirty="0">
                <a:solidFill>
                  <a:srgbClr val="C9761A"/>
                </a:solidFill>
                <a:latin typeface="Cambria" pitchFamily="34" charset="0"/>
                <a:ea typeface="Cambria" pitchFamily="34" charset="-122"/>
                <a:cs typeface="Cambria" pitchFamily="34" charset="-120"/>
              </a:rPr>
              <a:t>8 hari</a:t>
            </a:r>
            <a:endParaRPr lang="en-US" sz="2000" dirty="0"/>
          </a:p>
        </p:txBody>
      </p:sp>
      <p:sp>
        <p:nvSpPr>
          <p:cNvPr id="26" name="Text 24"/>
          <p:cNvSpPr/>
          <p:nvPr/>
        </p:nvSpPr>
        <p:spPr>
          <a:xfrm>
            <a:off x="8961120" y="5029200"/>
            <a:ext cx="1207008" cy="502920"/>
          </a:xfrm>
          <a:prstGeom prst="rect">
            <a:avLst/>
          </a:prstGeom>
          <a:noFill/>
          <a:ln/>
        </p:spPr>
        <p:txBody>
          <a:bodyPr wrap="square" rtlCol="0" anchor="ctr"/>
          <a:lstStyle/>
          <a:p>
            <a:pPr algn="ctr" indent="0" marL="0">
              <a:lnSpc>
                <a:spcPts val="1100"/>
              </a:lnSpc>
              <a:buNone/>
            </a:pPr>
            <a:r>
              <a:rPr lang="en-US" sz="950" dirty="0">
                <a:solidFill>
                  <a:srgbClr val="222A32"/>
                </a:solidFill>
                <a:latin typeface="Calibri" pitchFamily="34" charset="0"/>
                <a:ea typeface="Calibri" pitchFamily="34" charset="-122"/>
                <a:cs typeface="Calibri" pitchFamily="34" charset="-120"/>
              </a:rPr>
              <a:t>Dev Dashboard</a:t>
            </a:r>
            <a:endParaRPr lang="en-US" sz="950" dirty="0"/>
          </a:p>
        </p:txBody>
      </p:sp>
      <p:sp>
        <p:nvSpPr>
          <p:cNvPr id="27" name="Shape 25"/>
          <p:cNvSpPr/>
          <p:nvPr/>
        </p:nvSpPr>
        <p:spPr>
          <a:xfrm>
            <a:off x="10287000" y="4389120"/>
            <a:ext cx="1298448" cy="1234440"/>
          </a:xfrm>
          <a:prstGeom prst="roundRect">
            <a:avLst>
              <a:gd name="adj" fmla="val 4444"/>
            </a:avLst>
          </a:prstGeom>
          <a:solidFill>
            <a:srgbClr val="F3F5F7"/>
          </a:solidFill>
          <a:ln/>
        </p:spPr>
      </p:sp>
      <p:sp>
        <p:nvSpPr>
          <p:cNvPr id="28" name="Text 26"/>
          <p:cNvSpPr/>
          <p:nvPr/>
        </p:nvSpPr>
        <p:spPr>
          <a:xfrm>
            <a:off x="10287000" y="4526280"/>
            <a:ext cx="1298448" cy="502920"/>
          </a:xfrm>
          <a:prstGeom prst="rect">
            <a:avLst/>
          </a:prstGeom>
          <a:noFill/>
          <a:ln/>
        </p:spPr>
        <p:txBody>
          <a:bodyPr wrap="square" rtlCol="0" anchor="ctr"/>
          <a:lstStyle/>
          <a:p>
            <a:pPr algn="ctr" indent="0" marL="0">
              <a:buNone/>
            </a:pPr>
            <a:r>
              <a:rPr lang="en-US" sz="2000" b="1" dirty="0">
                <a:solidFill>
                  <a:srgbClr val="C9761A"/>
                </a:solidFill>
                <a:latin typeface="Cambria" pitchFamily="34" charset="0"/>
                <a:ea typeface="Cambria" pitchFamily="34" charset="-122"/>
                <a:cs typeface="Cambria" pitchFamily="34" charset="-120"/>
              </a:rPr>
              <a:t>2 hari</a:t>
            </a:r>
            <a:endParaRPr lang="en-US" sz="2000" dirty="0"/>
          </a:p>
        </p:txBody>
      </p:sp>
      <p:sp>
        <p:nvSpPr>
          <p:cNvPr id="29" name="Text 27"/>
          <p:cNvSpPr/>
          <p:nvPr/>
        </p:nvSpPr>
        <p:spPr>
          <a:xfrm>
            <a:off x="10332720" y="5029200"/>
            <a:ext cx="1207008" cy="502920"/>
          </a:xfrm>
          <a:prstGeom prst="rect">
            <a:avLst/>
          </a:prstGeom>
          <a:noFill/>
          <a:ln/>
        </p:spPr>
        <p:txBody>
          <a:bodyPr wrap="square" rtlCol="0" anchor="ctr"/>
          <a:lstStyle/>
          <a:p>
            <a:pPr algn="ctr" indent="0" marL="0">
              <a:lnSpc>
                <a:spcPts val="1100"/>
              </a:lnSpc>
              <a:buNone/>
            </a:pPr>
            <a:r>
              <a:rPr lang="en-US" sz="950" dirty="0">
                <a:solidFill>
                  <a:srgbClr val="222A32"/>
                </a:solidFill>
                <a:latin typeface="Calibri" pitchFamily="34" charset="0"/>
                <a:ea typeface="Calibri" pitchFamily="34" charset="-122"/>
                <a:cs typeface="Calibri" pitchFamily="34" charset="-120"/>
              </a:rPr>
              <a:t>Dev Mobile App</a:t>
            </a:r>
            <a:endParaRPr lang="en-US" sz="950" dirty="0"/>
          </a:p>
        </p:txBody>
      </p:sp>
      <p:sp>
        <p:nvSpPr>
          <p:cNvPr id="30" name="Text 2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5A6B7A"/>
                </a:solidFill>
                <a:latin typeface="Calibri" pitchFamily="34" charset="0"/>
                <a:ea typeface="Calibri" pitchFamily="34" charset="-122"/>
                <a:cs typeface="Calibri" pitchFamily="34" charset="-120"/>
              </a:rPr>
              <a:t>Metodologi Waterfall &amp; Penjadwalan CPM</a:t>
            </a:r>
            <a:endParaRPr lang="en-US" sz="900" dirty="0"/>
          </a:p>
        </p:txBody>
      </p:sp>
      <p:sp>
        <p:nvSpPr>
          <p:cNvPr id="31" name="Text 29"/>
          <p:cNvSpPr/>
          <p:nvPr/>
        </p:nvSpPr>
        <p:spPr>
          <a:xfrm>
            <a:off x="9262872" y="6473952"/>
            <a:ext cx="24688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SIMProKon  •  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100" kern="0" dirty="0">
                <a:solidFill>
                  <a:srgbClr val="C9761A"/>
                </a:solidFill>
                <a:latin typeface="Calibri" pitchFamily="34" charset="0"/>
                <a:ea typeface="Calibri" pitchFamily="34" charset="-122"/>
                <a:cs typeface="Calibri" pitchFamily="34" charset="-120"/>
              </a:rPr>
              <a:t>05   MANAJEMEN RISIKO</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indent="0" marL="0">
              <a:buNone/>
            </a:pPr>
            <a:r>
              <a:rPr lang="en-US" sz="2700" b="1" dirty="0">
                <a:solidFill>
                  <a:srgbClr val="1B3A5C"/>
                </a:solidFill>
                <a:latin typeface="Cambria" pitchFamily="34" charset="0"/>
                <a:ea typeface="Cambria" pitchFamily="34" charset="-122"/>
                <a:cs typeface="Cambria" pitchFamily="34" charset="-120"/>
              </a:rPr>
              <a:t>Risiko Utama &amp; Anggaran Kontingensi</a:t>
            </a:r>
            <a:endParaRPr lang="en-US" sz="2700" dirty="0"/>
          </a:p>
        </p:txBody>
      </p:sp>
      <p:sp>
        <p:nvSpPr>
          <p:cNvPr id="4" name="Shape 2"/>
          <p:cNvSpPr/>
          <p:nvPr/>
        </p:nvSpPr>
        <p:spPr>
          <a:xfrm>
            <a:off x="548640" y="1600200"/>
            <a:ext cx="7315200" cy="1005840"/>
          </a:xfrm>
          <a:prstGeom prst="roundRect">
            <a:avLst>
              <a:gd name="adj" fmla="val 5455"/>
            </a:avLst>
          </a:prstGeom>
          <a:solidFill>
            <a:srgbClr val="F3F5F7"/>
          </a:solidFill>
          <a:ln/>
        </p:spPr>
      </p:sp>
      <p:sp>
        <p:nvSpPr>
          <p:cNvPr id="5" name="Shape 3"/>
          <p:cNvSpPr/>
          <p:nvPr/>
        </p:nvSpPr>
        <p:spPr>
          <a:xfrm>
            <a:off x="685800" y="1783080"/>
            <a:ext cx="685800" cy="640080"/>
          </a:xfrm>
          <a:prstGeom prst="roundRect">
            <a:avLst>
              <a:gd name="adj" fmla="val 8571"/>
            </a:avLst>
          </a:prstGeom>
          <a:solidFill>
            <a:srgbClr val="1B3A5C"/>
          </a:solidFill>
          <a:ln/>
        </p:spPr>
      </p:sp>
      <p:sp>
        <p:nvSpPr>
          <p:cNvPr id="6" name="Text 4"/>
          <p:cNvSpPr/>
          <p:nvPr/>
        </p:nvSpPr>
        <p:spPr>
          <a:xfrm>
            <a:off x="685800" y="1783080"/>
            <a:ext cx="6858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R01</a:t>
            </a:r>
            <a:endParaRPr lang="en-US" sz="1300" dirty="0"/>
          </a:p>
        </p:txBody>
      </p:sp>
      <p:sp>
        <p:nvSpPr>
          <p:cNvPr id="7" name="Text 5"/>
          <p:cNvSpPr/>
          <p:nvPr/>
        </p:nvSpPr>
        <p:spPr>
          <a:xfrm>
            <a:off x="1508760" y="1709928"/>
            <a:ext cx="6263640" cy="320040"/>
          </a:xfrm>
          <a:prstGeom prst="rect">
            <a:avLst/>
          </a:prstGeom>
          <a:noFill/>
          <a:ln/>
        </p:spPr>
        <p:txBody>
          <a:bodyPr wrap="square"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Perubahan Requirement Mendadak</a:t>
            </a:r>
            <a:endParaRPr lang="en-US" sz="1300" dirty="0"/>
          </a:p>
        </p:txBody>
      </p:sp>
      <p:sp>
        <p:nvSpPr>
          <p:cNvPr id="8" name="Text 6"/>
          <p:cNvSpPr/>
          <p:nvPr/>
        </p:nvSpPr>
        <p:spPr>
          <a:xfrm>
            <a:off x="1508760" y="2020824"/>
            <a:ext cx="5486400" cy="502920"/>
          </a:xfrm>
          <a:prstGeom prst="rect">
            <a:avLst/>
          </a:prstGeom>
          <a:noFill/>
          <a:ln/>
        </p:spPr>
        <p:txBody>
          <a:bodyPr wrap="square" rtlCol="0" anchor="ctr"/>
          <a:lstStyle/>
          <a:p>
            <a:pPr indent="0" marL="0">
              <a:lnSpc>
                <a:spcPts val="1300"/>
              </a:lnSpc>
              <a:buNone/>
            </a:pPr>
            <a:r>
              <a:rPr lang="en-US" sz="1100" dirty="0">
                <a:solidFill>
                  <a:srgbClr val="222A32"/>
                </a:solidFill>
                <a:latin typeface="Calibri" pitchFamily="34" charset="0"/>
                <a:ea typeface="Calibri" pitchFamily="34" charset="-122"/>
                <a:cs typeface="Calibri" pitchFamily="34" charset="-120"/>
              </a:rPr>
              <a:t>Perbedaan persepsi manajemen memicu perubahan kebutuhan di tengah proyek</a:t>
            </a:r>
            <a:endParaRPr lang="en-US" sz="1100" dirty="0"/>
          </a:p>
        </p:txBody>
      </p:sp>
      <p:sp>
        <p:nvSpPr>
          <p:cNvPr id="9" name="Text 7"/>
          <p:cNvSpPr/>
          <p:nvPr/>
        </p:nvSpPr>
        <p:spPr>
          <a:xfrm>
            <a:off x="7040880" y="1947672"/>
            <a:ext cx="777240" cy="320040"/>
          </a:xfrm>
          <a:prstGeom prst="rect">
            <a:avLst/>
          </a:prstGeom>
          <a:noFill/>
          <a:ln/>
        </p:spPr>
        <p:txBody>
          <a:bodyPr wrap="square" rtlCol="0" anchor="ctr"/>
          <a:lstStyle/>
          <a:p>
            <a:pPr algn="ctr" indent="0" marL="0">
              <a:buNone/>
            </a:pPr>
            <a:r>
              <a:rPr lang="en-US" sz="1050" b="1" dirty="0">
                <a:solidFill>
                  <a:srgbClr val="B3261E"/>
                </a:solidFill>
                <a:latin typeface="Calibri" pitchFamily="34" charset="0"/>
                <a:ea typeface="Calibri" pitchFamily="34" charset="-122"/>
                <a:cs typeface="Calibri" pitchFamily="34" charset="-120"/>
              </a:rPr>
              <a:t>Tinggi</a:t>
            </a:r>
            <a:endParaRPr lang="en-US" sz="1050" dirty="0"/>
          </a:p>
        </p:txBody>
      </p:sp>
      <p:sp>
        <p:nvSpPr>
          <p:cNvPr id="10" name="Shape 8"/>
          <p:cNvSpPr/>
          <p:nvPr/>
        </p:nvSpPr>
        <p:spPr>
          <a:xfrm>
            <a:off x="548640" y="2743200"/>
            <a:ext cx="7315200" cy="1005840"/>
          </a:xfrm>
          <a:prstGeom prst="roundRect">
            <a:avLst>
              <a:gd name="adj" fmla="val 5455"/>
            </a:avLst>
          </a:prstGeom>
          <a:solidFill>
            <a:srgbClr val="F3F5F7"/>
          </a:solidFill>
          <a:ln/>
        </p:spPr>
      </p:sp>
      <p:sp>
        <p:nvSpPr>
          <p:cNvPr id="11" name="Shape 9"/>
          <p:cNvSpPr/>
          <p:nvPr/>
        </p:nvSpPr>
        <p:spPr>
          <a:xfrm>
            <a:off x="685800" y="2926080"/>
            <a:ext cx="685800" cy="640080"/>
          </a:xfrm>
          <a:prstGeom prst="roundRect">
            <a:avLst>
              <a:gd name="adj" fmla="val 8571"/>
            </a:avLst>
          </a:prstGeom>
          <a:solidFill>
            <a:srgbClr val="1B3A5C"/>
          </a:solidFill>
          <a:ln/>
        </p:spPr>
      </p:sp>
      <p:sp>
        <p:nvSpPr>
          <p:cNvPr id="12" name="Text 10"/>
          <p:cNvSpPr/>
          <p:nvPr/>
        </p:nvSpPr>
        <p:spPr>
          <a:xfrm>
            <a:off x="685800" y="2926080"/>
            <a:ext cx="6858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R02</a:t>
            </a:r>
            <a:endParaRPr lang="en-US" sz="1300" dirty="0"/>
          </a:p>
        </p:txBody>
      </p:sp>
      <p:sp>
        <p:nvSpPr>
          <p:cNvPr id="13" name="Text 11"/>
          <p:cNvSpPr/>
          <p:nvPr/>
        </p:nvSpPr>
        <p:spPr>
          <a:xfrm>
            <a:off x="1508760" y="2852928"/>
            <a:ext cx="6263640" cy="320040"/>
          </a:xfrm>
          <a:prstGeom prst="rect">
            <a:avLst/>
          </a:prstGeom>
          <a:noFill/>
          <a:ln/>
        </p:spPr>
        <p:txBody>
          <a:bodyPr wrap="square"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Keterlambatan Pengadaan Server</a:t>
            </a:r>
            <a:endParaRPr lang="en-US" sz="1300" dirty="0"/>
          </a:p>
        </p:txBody>
      </p:sp>
      <p:sp>
        <p:nvSpPr>
          <p:cNvPr id="14" name="Text 12"/>
          <p:cNvSpPr/>
          <p:nvPr/>
        </p:nvSpPr>
        <p:spPr>
          <a:xfrm>
            <a:off x="1508760" y="3163824"/>
            <a:ext cx="5486400" cy="502920"/>
          </a:xfrm>
          <a:prstGeom prst="rect">
            <a:avLst/>
          </a:prstGeom>
          <a:noFill/>
          <a:ln/>
        </p:spPr>
        <p:txBody>
          <a:bodyPr wrap="square" rtlCol="0" anchor="ctr"/>
          <a:lstStyle/>
          <a:p>
            <a:pPr indent="0" marL="0">
              <a:lnSpc>
                <a:spcPts val="1300"/>
              </a:lnSpc>
              <a:buNone/>
            </a:pPr>
            <a:r>
              <a:rPr lang="en-US" sz="1100" dirty="0">
                <a:solidFill>
                  <a:srgbClr val="222A32"/>
                </a:solidFill>
                <a:latin typeface="Calibri" pitchFamily="34" charset="0"/>
                <a:ea typeface="Calibri" pitchFamily="34" charset="-122"/>
                <a:cs typeface="Calibri" pitchFamily="34" charset="-120"/>
              </a:rPr>
              <a:t>Vendor cloud pihak ketiga berpotensi terlambat menyediakan infrastruktur</a:t>
            </a:r>
            <a:endParaRPr lang="en-US" sz="1100" dirty="0"/>
          </a:p>
        </p:txBody>
      </p:sp>
      <p:sp>
        <p:nvSpPr>
          <p:cNvPr id="15" name="Text 13"/>
          <p:cNvSpPr/>
          <p:nvPr/>
        </p:nvSpPr>
        <p:spPr>
          <a:xfrm>
            <a:off x="7040880" y="3090672"/>
            <a:ext cx="777240" cy="320040"/>
          </a:xfrm>
          <a:prstGeom prst="rect">
            <a:avLst/>
          </a:prstGeom>
          <a:noFill/>
          <a:ln/>
        </p:spPr>
        <p:txBody>
          <a:bodyPr wrap="square" rtlCol="0" anchor="ctr"/>
          <a:lstStyle/>
          <a:p>
            <a:pPr algn="ctr" indent="0" marL="0">
              <a:buNone/>
            </a:pPr>
            <a:r>
              <a:rPr lang="en-US" sz="1050" b="1" dirty="0">
                <a:solidFill>
                  <a:srgbClr val="C9761A"/>
                </a:solidFill>
                <a:latin typeface="Calibri" pitchFamily="34" charset="0"/>
                <a:ea typeface="Calibri" pitchFamily="34" charset="-122"/>
                <a:cs typeface="Calibri" pitchFamily="34" charset="-120"/>
              </a:rPr>
              <a:t>Sedang</a:t>
            </a:r>
            <a:endParaRPr lang="en-US" sz="1050" dirty="0"/>
          </a:p>
        </p:txBody>
      </p:sp>
      <p:sp>
        <p:nvSpPr>
          <p:cNvPr id="16" name="Shape 14"/>
          <p:cNvSpPr/>
          <p:nvPr/>
        </p:nvSpPr>
        <p:spPr>
          <a:xfrm>
            <a:off x="548640" y="3886200"/>
            <a:ext cx="7315200" cy="1005840"/>
          </a:xfrm>
          <a:prstGeom prst="roundRect">
            <a:avLst>
              <a:gd name="adj" fmla="val 5455"/>
            </a:avLst>
          </a:prstGeom>
          <a:solidFill>
            <a:srgbClr val="F3F5F7"/>
          </a:solidFill>
          <a:ln/>
        </p:spPr>
      </p:sp>
      <p:sp>
        <p:nvSpPr>
          <p:cNvPr id="17" name="Shape 15"/>
          <p:cNvSpPr/>
          <p:nvPr/>
        </p:nvSpPr>
        <p:spPr>
          <a:xfrm>
            <a:off x="685800" y="4069080"/>
            <a:ext cx="685800" cy="640080"/>
          </a:xfrm>
          <a:prstGeom prst="roundRect">
            <a:avLst>
              <a:gd name="adj" fmla="val 8571"/>
            </a:avLst>
          </a:prstGeom>
          <a:solidFill>
            <a:srgbClr val="1B3A5C"/>
          </a:solidFill>
          <a:ln/>
        </p:spPr>
      </p:sp>
      <p:sp>
        <p:nvSpPr>
          <p:cNvPr id="18" name="Text 16"/>
          <p:cNvSpPr/>
          <p:nvPr/>
        </p:nvSpPr>
        <p:spPr>
          <a:xfrm>
            <a:off x="685800" y="4069080"/>
            <a:ext cx="6858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R03</a:t>
            </a:r>
            <a:endParaRPr lang="en-US" sz="1300" dirty="0"/>
          </a:p>
        </p:txBody>
      </p:sp>
      <p:sp>
        <p:nvSpPr>
          <p:cNvPr id="19" name="Text 17"/>
          <p:cNvSpPr/>
          <p:nvPr/>
        </p:nvSpPr>
        <p:spPr>
          <a:xfrm>
            <a:off x="1508760" y="3995928"/>
            <a:ext cx="6263640" cy="320040"/>
          </a:xfrm>
          <a:prstGeom prst="rect">
            <a:avLst/>
          </a:prstGeom>
          <a:noFill/>
          <a:ln/>
        </p:spPr>
        <p:txBody>
          <a:bodyPr wrap="square"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Resistensi Pengguna Lapangan</a:t>
            </a:r>
            <a:endParaRPr lang="en-US" sz="1300" dirty="0"/>
          </a:p>
        </p:txBody>
      </p:sp>
      <p:sp>
        <p:nvSpPr>
          <p:cNvPr id="20" name="Text 18"/>
          <p:cNvSpPr/>
          <p:nvPr/>
        </p:nvSpPr>
        <p:spPr>
          <a:xfrm>
            <a:off x="1508760" y="4306824"/>
            <a:ext cx="5486400" cy="502920"/>
          </a:xfrm>
          <a:prstGeom prst="rect">
            <a:avLst/>
          </a:prstGeom>
          <a:noFill/>
          <a:ln/>
        </p:spPr>
        <p:txBody>
          <a:bodyPr wrap="square" rtlCol="0" anchor="ctr"/>
          <a:lstStyle/>
          <a:p>
            <a:pPr indent="0" marL="0">
              <a:lnSpc>
                <a:spcPts val="1300"/>
              </a:lnSpc>
              <a:buNone/>
            </a:pPr>
            <a:r>
              <a:rPr lang="en-US" sz="1100" dirty="0">
                <a:solidFill>
                  <a:srgbClr val="222A32"/>
                </a:solidFill>
                <a:latin typeface="Calibri" pitchFamily="34" charset="0"/>
                <a:ea typeface="Calibri" pitchFamily="34" charset="-122"/>
                <a:cs typeface="Calibri" pitchFamily="34" charset="-120"/>
              </a:rPr>
              <a:t>Site manager terbiasa bekerja manual sehingga sulit beradaptasi</a:t>
            </a:r>
            <a:endParaRPr lang="en-US" sz="1100" dirty="0"/>
          </a:p>
        </p:txBody>
      </p:sp>
      <p:sp>
        <p:nvSpPr>
          <p:cNvPr id="21" name="Text 19"/>
          <p:cNvSpPr/>
          <p:nvPr/>
        </p:nvSpPr>
        <p:spPr>
          <a:xfrm>
            <a:off x="7040880" y="4233672"/>
            <a:ext cx="777240" cy="320040"/>
          </a:xfrm>
          <a:prstGeom prst="rect">
            <a:avLst/>
          </a:prstGeom>
          <a:noFill/>
          <a:ln/>
        </p:spPr>
        <p:txBody>
          <a:bodyPr wrap="square" rtlCol="0" anchor="ctr"/>
          <a:lstStyle/>
          <a:p>
            <a:pPr algn="ctr" indent="0" marL="0">
              <a:buNone/>
            </a:pPr>
            <a:r>
              <a:rPr lang="en-US" sz="1050" b="1" dirty="0">
                <a:solidFill>
                  <a:srgbClr val="C9761A"/>
                </a:solidFill>
                <a:latin typeface="Calibri" pitchFamily="34" charset="0"/>
                <a:ea typeface="Calibri" pitchFamily="34" charset="-122"/>
                <a:cs typeface="Calibri" pitchFamily="34" charset="-120"/>
              </a:rPr>
              <a:t>Sedang</a:t>
            </a:r>
            <a:endParaRPr lang="en-US" sz="1050" dirty="0"/>
          </a:p>
        </p:txBody>
      </p:sp>
      <p:sp>
        <p:nvSpPr>
          <p:cNvPr id="22" name="Shape 20"/>
          <p:cNvSpPr/>
          <p:nvPr/>
        </p:nvSpPr>
        <p:spPr>
          <a:xfrm>
            <a:off x="548640" y="5029200"/>
            <a:ext cx="7315200" cy="1005840"/>
          </a:xfrm>
          <a:prstGeom prst="roundRect">
            <a:avLst>
              <a:gd name="adj" fmla="val 5455"/>
            </a:avLst>
          </a:prstGeom>
          <a:solidFill>
            <a:srgbClr val="F3F5F7"/>
          </a:solidFill>
          <a:ln/>
        </p:spPr>
      </p:sp>
      <p:sp>
        <p:nvSpPr>
          <p:cNvPr id="23" name="Shape 21"/>
          <p:cNvSpPr/>
          <p:nvPr/>
        </p:nvSpPr>
        <p:spPr>
          <a:xfrm>
            <a:off x="685800" y="5212080"/>
            <a:ext cx="685800" cy="640080"/>
          </a:xfrm>
          <a:prstGeom prst="roundRect">
            <a:avLst>
              <a:gd name="adj" fmla="val 8571"/>
            </a:avLst>
          </a:prstGeom>
          <a:solidFill>
            <a:srgbClr val="1B3A5C"/>
          </a:solidFill>
          <a:ln/>
        </p:spPr>
      </p:sp>
      <p:sp>
        <p:nvSpPr>
          <p:cNvPr id="24" name="Text 22"/>
          <p:cNvSpPr/>
          <p:nvPr/>
        </p:nvSpPr>
        <p:spPr>
          <a:xfrm>
            <a:off x="685800" y="5212080"/>
            <a:ext cx="6858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R04</a:t>
            </a:r>
            <a:endParaRPr lang="en-US" sz="1300" dirty="0"/>
          </a:p>
        </p:txBody>
      </p:sp>
      <p:sp>
        <p:nvSpPr>
          <p:cNvPr id="25" name="Text 23"/>
          <p:cNvSpPr/>
          <p:nvPr/>
        </p:nvSpPr>
        <p:spPr>
          <a:xfrm>
            <a:off x="1508760" y="5138928"/>
            <a:ext cx="6263640" cy="320040"/>
          </a:xfrm>
          <a:prstGeom prst="rect">
            <a:avLst/>
          </a:prstGeom>
          <a:noFill/>
          <a:ln/>
        </p:spPr>
        <p:txBody>
          <a:bodyPr wrap="square"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Kebocoran Data Sensitif</a:t>
            </a:r>
            <a:endParaRPr lang="en-US" sz="1300" dirty="0"/>
          </a:p>
        </p:txBody>
      </p:sp>
      <p:sp>
        <p:nvSpPr>
          <p:cNvPr id="26" name="Text 24"/>
          <p:cNvSpPr/>
          <p:nvPr/>
        </p:nvSpPr>
        <p:spPr>
          <a:xfrm>
            <a:off x="1508760" y="5449824"/>
            <a:ext cx="5486400" cy="502920"/>
          </a:xfrm>
          <a:prstGeom prst="rect">
            <a:avLst/>
          </a:prstGeom>
          <a:noFill/>
          <a:ln/>
        </p:spPr>
        <p:txBody>
          <a:bodyPr wrap="square" rtlCol="0" anchor="ctr"/>
          <a:lstStyle/>
          <a:p>
            <a:pPr indent="0" marL="0">
              <a:lnSpc>
                <a:spcPts val="1300"/>
              </a:lnSpc>
              <a:buNone/>
            </a:pPr>
            <a:r>
              <a:rPr lang="en-US" sz="1100" dirty="0">
                <a:solidFill>
                  <a:srgbClr val="222A32"/>
                </a:solidFill>
                <a:latin typeface="Calibri" pitchFamily="34" charset="0"/>
                <a:ea typeface="Calibri" pitchFamily="34" charset="-122"/>
                <a:cs typeface="Calibri" pitchFamily="34" charset="-120"/>
              </a:rPr>
              <a:t>Data harga satuan dan strategi tender berisiko bocor ke pihak luar</a:t>
            </a:r>
            <a:endParaRPr lang="en-US" sz="1100" dirty="0"/>
          </a:p>
        </p:txBody>
      </p:sp>
      <p:sp>
        <p:nvSpPr>
          <p:cNvPr id="27" name="Text 25"/>
          <p:cNvSpPr/>
          <p:nvPr/>
        </p:nvSpPr>
        <p:spPr>
          <a:xfrm>
            <a:off x="7040880" y="5376672"/>
            <a:ext cx="777240" cy="320040"/>
          </a:xfrm>
          <a:prstGeom prst="rect">
            <a:avLst/>
          </a:prstGeom>
          <a:noFill/>
          <a:ln/>
        </p:spPr>
        <p:txBody>
          <a:bodyPr wrap="square" rtlCol="0" anchor="ctr"/>
          <a:lstStyle/>
          <a:p>
            <a:pPr algn="ctr" indent="0" marL="0">
              <a:buNone/>
            </a:pPr>
            <a:r>
              <a:rPr lang="en-US" sz="1050" b="1" dirty="0">
                <a:solidFill>
                  <a:srgbClr val="B3261E"/>
                </a:solidFill>
                <a:latin typeface="Calibri" pitchFamily="34" charset="0"/>
                <a:ea typeface="Calibri" pitchFamily="34" charset="-122"/>
                <a:cs typeface="Calibri" pitchFamily="34" charset="-120"/>
              </a:rPr>
              <a:t>Tinggi</a:t>
            </a:r>
            <a:endParaRPr lang="en-US" sz="1050" dirty="0"/>
          </a:p>
        </p:txBody>
      </p:sp>
      <p:sp>
        <p:nvSpPr>
          <p:cNvPr id="28" name="Shape 26"/>
          <p:cNvSpPr/>
          <p:nvPr/>
        </p:nvSpPr>
        <p:spPr>
          <a:xfrm>
            <a:off x="8229600" y="1600200"/>
            <a:ext cx="3410712" cy="4572000"/>
          </a:xfrm>
          <a:prstGeom prst="roundRect">
            <a:avLst>
              <a:gd name="adj" fmla="val 2145"/>
            </a:avLst>
          </a:prstGeom>
          <a:solidFill>
            <a:srgbClr val="1B3A5C"/>
          </a:solidFill>
          <a:ln/>
        </p:spPr>
      </p:sp>
      <p:sp>
        <p:nvSpPr>
          <p:cNvPr id="29" name="Text 27"/>
          <p:cNvSpPr/>
          <p:nvPr/>
        </p:nvSpPr>
        <p:spPr>
          <a:xfrm>
            <a:off x="8458200" y="1828800"/>
            <a:ext cx="297180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Anggaran Kontingensi</a:t>
            </a:r>
            <a:endParaRPr lang="en-US" sz="1350" dirty="0"/>
          </a:p>
        </p:txBody>
      </p:sp>
      <p:sp>
        <p:nvSpPr>
          <p:cNvPr id="30" name="Text 28"/>
          <p:cNvSpPr/>
          <p:nvPr/>
        </p:nvSpPr>
        <p:spPr>
          <a:xfrm>
            <a:off x="8229600" y="2331720"/>
            <a:ext cx="3410712" cy="914400"/>
          </a:xfrm>
          <a:prstGeom prst="rect">
            <a:avLst/>
          </a:prstGeom>
          <a:noFill/>
          <a:ln/>
        </p:spPr>
        <p:txBody>
          <a:bodyPr wrap="square" rtlCol="0" anchor="ctr"/>
          <a:lstStyle/>
          <a:p>
            <a:pPr algn="ctr" indent="0" marL="0">
              <a:buNone/>
            </a:pPr>
            <a:r>
              <a:rPr lang="en-US" sz="4600" b="1" dirty="0">
                <a:solidFill>
                  <a:srgbClr val="E8912D"/>
                </a:solidFill>
                <a:latin typeface="Cambria" pitchFamily="34" charset="0"/>
                <a:ea typeface="Cambria" pitchFamily="34" charset="-122"/>
                <a:cs typeface="Cambria" pitchFamily="34" charset="-120"/>
              </a:rPr>
              <a:t>12%</a:t>
            </a:r>
            <a:endParaRPr lang="en-US" sz="4600" dirty="0"/>
          </a:p>
        </p:txBody>
      </p:sp>
      <p:sp>
        <p:nvSpPr>
          <p:cNvPr id="31" name="Text 29"/>
          <p:cNvSpPr/>
          <p:nvPr/>
        </p:nvSpPr>
        <p:spPr>
          <a:xfrm>
            <a:off x="8458200" y="3200400"/>
            <a:ext cx="2971800" cy="640080"/>
          </a:xfrm>
          <a:prstGeom prst="rect">
            <a:avLst/>
          </a:prstGeom>
          <a:noFill/>
          <a:ln/>
        </p:spPr>
        <p:txBody>
          <a:bodyPr wrap="square" rtlCol="0" anchor="ctr"/>
          <a:lstStyle/>
          <a:p>
            <a:pPr algn="ctr" indent="0" marL="0">
              <a:lnSpc>
                <a:spcPts val="1500"/>
              </a:lnSpc>
              <a:buNone/>
            </a:pPr>
            <a:r>
              <a:rPr lang="en-US" sz="1200" dirty="0">
                <a:solidFill>
                  <a:srgbClr val="E7EDF2"/>
                </a:solidFill>
                <a:latin typeface="Calibri" pitchFamily="34" charset="0"/>
                <a:ea typeface="Calibri" pitchFamily="34" charset="-122"/>
                <a:cs typeface="Calibri" pitchFamily="34" charset="-120"/>
              </a:rPr>
              <a:t>dari total anggaran (Rp 2,5 M)</a:t>
            </a:r>
            <a:endParaRPr lang="en-US" sz="1200" dirty="0"/>
          </a:p>
          <a:p>
            <a:pPr algn="ctr" indent="0" marL="0">
              <a:lnSpc>
                <a:spcPts val="1500"/>
              </a:lnSpc>
              <a:buNone/>
            </a:pPr>
            <a:r>
              <a:rPr lang="en-US" sz="1200" dirty="0">
                <a:solidFill>
                  <a:srgbClr val="E7EDF2"/>
                </a:solidFill>
                <a:latin typeface="Calibri" pitchFamily="34" charset="0"/>
                <a:ea typeface="Calibri" pitchFamily="34" charset="-122"/>
                <a:cs typeface="Calibri" pitchFamily="34" charset="-120"/>
              </a:rPr>
              <a:t>≈ Rp 300.000.000</a:t>
            </a:r>
            <a:endParaRPr lang="en-US" sz="1200" dirty="0"/>
          </a:p>
        </p:txBody>
      </p:sp>
      <p:sp>
        <p:nvSpPr>
          <p:cNvPr id="32" name="Shape 30"/>
          <p:cNvSpPr/>
          <p:nvPr/>
        </p:nvSpPr>
        <p:spPr>
          <a:xfrm>
            <a:off x="8595360" y="3977640"/>
            <a:ext cx="2743200" cy="0"/>
          </a:xfrm>
          <a:prstGeom prst="line">
            <a:avLst/>
          </a:prstGeom>
          <a:noFill/>
          <a:ln w="12700">
            <a:solidFill>
              <a:srgbClr val="3E5A78"/>
            </a:solidFill>
            <a:prstDash val="solid"/>
          </a:ln>
        </p:spPr>
      </p:sp>
      <p:sp>
        <p:nvSpPr>
          <p:cNvPr id="33" name="Text 31"/>
          <p:cNvSpPr/>
          <p:nvPr/>
        </p:nvSpPr>
        <p:spPr>
          <a:xfrm>
            <a:off x="8458200" y="4160520"/>
            <a:ext cx="2971800" cy="1828800"/>
          </a:xfrm>
          <a:prstGeom prst="rect">
            <a:avLst/>
          </a:prstGeom>
          <a:noFill/>
          <a:ln/>
        </p:spPr>
        <p:txBody>
          <a:bodyPr wrap="square" rtlCol="0" anchor="ctr"/>
          <a:lstStyle/>
          <a:p>
            <a:pPr indent="0" marL="0">
              <a:lnSpc>
                <a:spcPts val="1500"/>
              </a:lnSpc>
              <a:buNone/>
            </a:pPr>
            <a:r>
              <a:rPr lang="en-US" sz="1100" i="1" dirty="0">
                <a:solidFill>
                  <a:srgbClr val="D8E1E8"/>
                </a:solidFill>
                <a:latin typeface="Calibri" pitchFamily="34" charset="0"/>
                <a:ea typeface="Calibri" pitchFamily="34" charset="-122"/>
                <a:cs typeface="Calibri" pitchFamily="34" charset="-120"/>
              </a:rPr>
              <a:t>Berada pada rentang 5–15% yang direkomendasikan PMBOK untuk proyek dengan profil risiko menengah, mengingat kompleksitas integrasi antarmodul dan ketergantungan pada vendor cloud.</a:t>
            </a:r>
            <a:endParaRPr lang="en-US" sz="1100" dirty="0"/>
          </a:p>
        </p:txBody>
      </p:sp>
      <p:sp>
        <p:nvSpPr>
          <p:cNvPr id="34" name="Text 32"/>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5A6B7A"/>
                </a:solidFill>
                <a:latin typeface="Calibri" pitchFamily="34" charset="0"/>
                <a:ea typeface="Calibri" pitchFamily="34" charset="-122"/>
                <a:cs typeface="Calibri" pitchFamily="34" charset="-120"/>
              </a:rPr>
              <a:t>Risk Register &amp; Anggaran Kontingensi</a:t>
            </a:r>
            <a:endParaRPr lang="en-US" sz="900" dirty="0"/>
          </a:p>
        </p:txBody>
      </p:sp>
      <p:sp>
        <p:nvSpPr>
          <p:cNvPr id="35" name="Text 33"/>
          <p:cNvSpPr/>
          <p:nvPr/>
        </p:nvSpPr>
        <p:spPr>
          <a:xfrm>
            <a:off x="9262872" y="6473952"/>
            <a:ext cx="24688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SIMProKon  •  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100" kern="0" dirty="0">
                <a:solidFill>
                  <a:srgbClr val="C9761A"/>
                </a:solidFill>
                <a:latin typeface="Calibri" pitchFamily="34" charset="0"/>
                <a:ea typeface="Calibri" pitchFamily="34" charset="-122"/>
                <a:cs typeface="Calibri" pitchFamily="34" charset="-120"/>
              </a:rPr>
              <a:t>06   KELAYAKAN INVESTASI</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indent="0" marL="0">
              <a:buNone/>
            </a:pPr>
            <a:r>
              <a:rPr lang="en-US" sz="2700" b="1" dirty="0">
                <a:solidFill>
                  <a:srgbClr val="1B3A5C"/>
                </a:solidFill>
                <a:latin typeface="Cambria" pitchFamily="34" charset="0"/>
                <a:ea typeface="Cambria" pitchFamily="34" charset="-122"/>
                <a:cs typeface="Cambria" pitchFamily="34" charset="-120"/>
              </a:rPr>
              <a:t>Analisis Biaya-Manfaat (Cost-Benefit Analysis)</a:t>
            </a:r>
            <a:endParaRPr lang="en-US" sz="2700" dirty="0"/>
          </a:p>
        </p:txBody>
      </p:sp>
      <p:sp>
        <p:nvSpPr>
          <p:cNvPr id="4" name="Text 2"/>
          <p:cNvSpPr/>
          <p:nvPr/>
        </p:nvSpPr>
        <p:spPr>
          <a:xfrm>
            <a:off x="548640" y="1508760"/>
            <a:ext cx="6400800" cy="320040"/>
          </a:xfrm>
          <a:prstGeom prst="rect">
            <a:avLst/>
          </a:prstGeom>
          <a:noFill/>
          <a:ln/>
        </p:spPr>
        <p:txBody>
          <a:bodyPr wrap="square" rtlCol="0" anchor="ctr"/>
          <a:lstStyle/>
          <a:p>
            <a:pPr indent="0" marL="0">
              <a:buNone/>
            </a:pPr>
            <a:r>
              <a:rPr lang="en-US" sz="1450" b="1" dirty="0">
                <a:solidFill>
                  <a:srgbClr val="1B3A5C"/>
                </a:solidFill>
                <a:latin typeface="Calibri" pitchFamily="34" charset="0"/>
                <a:ea typeface="Calibri" pitchFamily="34" charset="-122"/>
                <a:cs typeface="Calibri" pitchFamily="34" charset="-120"/>
              </a:rPr>
              <a:t>Manfaat Nyata (Tangible) — per tahun</a:t>
            </a:r>
            <a:endParaRPr lang="en-US" sz="1450" dirty="0"/>
          </a:p>
        </p:txBody>
      </p:sp>
      <p:sp>
        <p:nvSpPr>
          <p:cNvPr id="5" name="Shape 3"/>
          <p:cNvSpPr/>
          <p:nvPr/>
        </p:nvSpPr>
        <p:spPr>
          <a:xfrm>
            <a:off x="548640" y="1965960"/>
            <a:ext cx="2331720" cy="1691640"/>
          </a:xfrm>
          <a:prstGeom prst="roundRect">
            <a:avLst>
              <a:gd name="adj" fmla="val 3784"/>
            </a:avLst>
          </a:prstGeom>
          <a:solidFill>
            <a:srgbClr val="F3F5F7"/>
          </a:solidFill>
          <a:ln/>
        </p:spPr>
      </p:sp>
      <p:sp>
        <p:nvSpPr>
          <p:cNvPr id="6" name="Text 4"/>
          <p:cNvSpPr/>
          <p:nvPr/>
        </p:nvSpPr>
        <p:spPr>
          <a:xfrm>
            <a:off x="548640" y="2121408"/>
            <a:ext cx="2331720" cy="502920"/>
          </a:xfrm>
          <a:prstGeom prst="rect">
            <a:avLst/>
          </a:prstGeom>
          <a:noFill/>
          <a:ln/>
        </p:spPr>
        <p:txBody>
          <a:bodyPr wrap="square" rtlCol="0" anchor="ctr"/>
          <a:lstStyle/>
          <a:p>
            <a:pPr algn="ctr" indent="0" marL="0">
              <a:buNone/>
            </a:pPr>
            <a:r>
              <a:rPr lang="en-US" sz="2100" b="1" dirty="0">
                <a:solidFill>
                  <a:srgbClr val="C9761A"/>
                </a:solidFill>
                <a:latin typeface="Cambria" pitchFamily="34" charset="0"/>
                <a:ea typeface="Cambria" pitchFamily="34" charset="-122"/>
                <a:cs typeface="Cambria" pitchFamily="34" charset="-120"/>
              </a:rPr>
              <a:t>Rp 200 jt</a:t>
            </a:r>
            <a:endParaRPr lang="en-US" sz="2100" dirty="0"/>
          </a:p>
        </p:txBody>
      </p:sp>
      <p:sp>
        <p:nvSpPr>
          <p:cNvPr id="7" name="Text 5"/>
          <p:cNvSpPr/>
          <p:nvPr/>
        </p:nvSpPr>
        <p:spPr>
          <a:xfrm>
            <a:off x="685800" y="2651760"/>
            <a:ext cx="2057400" cy="914400"/>
          </a:xfrm>
          <a:prstGeom prst="rect">
            <a:avLst/>
          </a:prstGeom>
          <a:noFill/>
          <a:ln/>
        </p:spPr>
        <p:txBody>
          <a:bodyPr wrap="square" rtlCol="0" anchor="ctr"/>
          <a:lstStyle/>
          <a:p>
            <a:pPr algn="ctr" indent="0" marL="0">
              <a:lnSpc>
                <a:spcPts val="1300"/>
              </a:lnSpc>
              <a:buNone/>
            </a:pPr>
            <a:r>
              <a:rPr lang="en-US" sz="1050" dirty="0">
                <a:solidFill>
                  <a:srgbClr val="222A32"/>
                </a:solidFill>
                <a:latin typeface="Calibri" pitchFamily="34" charset="0"/>
                <a:ea typeface="Calibri" pitchFamily="34" charset="-122"/>
                <a:cs typeface="Calibri" pitchFamily="34" charset="-120"/>
              </a:rPr>
              <a:t>Penghematan biaya administrasi pelaporan (kertas, kurir, lembur)</a:t>
            </a:r>
            <a:endParaRPr lang="en-US" sz="1050" dirty="0"/>
          </a:p>
        </p:txBody>
      </p:sp>
      <p:sp>
        <p:nvSpPr>
          <p:cNvPr id="8" name="Shape 6"/>
          <p:cNvSpPr/>
          <p:nvPr/>
        </p:nvSpPr>
        <p:spPr>
          <a:xfrm>
            <a:off x="3035808" y="1965960"/>
            <a:ext cx="2331720" cy="1691640"/>
          </a:xfrm>
          <a:prstGeom prst="roundRect">
            <a:avLst>
              <a:gd name="adj" fmla="val 3784"/>
            </a:avLst>
          </a:prstGeom>
          <a:solidFill>
            <a:srgbClr val="F3F5F7"/>
          </a:solidFill>
          <a:ln/>
        </p:spPr>
      </p:sp>
      <p:sp>
        <p:nvSpPr>
          <p:cNvPr id="9" name="Text 7"/>
          <p:cNvSpPr/>
          <p:nvPr/>
        </p:nvSpPr>
        <p:spPr>
          <a:xfrm>
            <a:off x="3035808" y="2121408"/>
            <a:ext cx="2331720" cy="502920"/>
          </a:xfrm>
          <a:prstGeom prst="rect">
            <a:avLst/>
          </a:prstGeom>
          <a:noFill/>
          <a:ln/>
        </p:spPr>
        <p:txBody>
          <a:bodyPr wrap="square" rtlCol="0" anchor="ctr"/>
          <a:lstStyle/>
          <a:p>
            <a:pPr algn="ctr" indent="0" marL="0">
              <a:buNone/>
            </a:pPr>
            <a:r>
              <a:rPr lang="en-US" sz="2100" b="1" dirty="0">
                <a:solidFill>
                  <a:srgbClr val="C9761A"/>
                </a:solidFill>
                <a:latin typeface="Cambria" pitchFamily="34" charset="0"/>
                <a:ea typeface="Cambria" pitchFamily="34" charset="-122"/>
                <a:cs typeface="Cambria" pitchFamily="34" charset="-120"/>
              </a:rPr>
              <a:t>Rp 400 jt</a:t>
            </a:r>
            <a:endParaRPr lang="en-US" sz="2100" dirty="0"/>
          </a:p>
        </p:txBody>
      </p:sp>
      <p:sp>
        <p:nvSpPr>
          <p:cNvPr id="10" name="Text 8"/>
          <p:cNvSpPr/>
          <p:nvPr/>
        </p:nvSpPr>
        <p:spPr>
          <a:xfrm>
            <a:off x="3172968" y="2651760"/>
            <a:ext cx="2057400" cy="914400"/>
          </a:xfrm>
          <a:prstGeom prst="rect">
            <a:avLst/>
          </a:prstGeom>
          <a:noFill/>
          <a:ln/>
        </p:spPr>
        <p:txBody>
          <a:bodyPr wrap="square" rtlCol="0" anchor="ctr"/>
          <a:lstStyle/>
          <a:p>
            <a:pPr algn="ctr" indent="0" marL="0">
              <a:lnSpc>
                <a:spcPts val="1300"/>
              </a:lnSpc>
              <a:buNone/>
            </a:pPr>
            <a:r>
              <a:rPr lang="en-US" sz="1050" dirty="0">
                <a:solidFill>
                  <a:srgbClr val="222A32"/>
                </a:solidFill>
                <a:latin typeface="Calibri" pitchFamily="34" charset="0"/>
                <a:ea typeface="Calibri" pitchFamily="34" charset="-122"/>
                <a:cs typeface="Calibri" pitchFamily="34" charset="-120"/>
              </a:rPr>
              <a:t>Penurunan potensi denda keterlambatan lewat deteksi dini deviasi jadwal</a:t>
            </a:r>
            <a:endParaRPr lang="en-US" sz="1050" dirty="0"/>
          </a:p>
        </p:txBody>
      </p:sp>
      <p:sp>
        <p:nvSpPr>
          <p:cNvPr id="11" name="Shape 9"/>
          <p:cNvSpPr/>
          <p:nvPr/>
        </p:nvSpPr>
        <p:spPr>
          <a:xfrm>
            <a:off x="5522976" y="1965960"/>
            <a:ext cx="2331720" cy="1691640"/>
          </a:xfrm>
          <a:prstGeom prst="roundRect">
            <a:avLst>
              <a:gd name="adj" fmla="val 3784"/>
            </a:avLst>
          </a:prstGeom>
          <a:solidFill>
            <a:srgbClr val="F3F5F7"/>
          </a:solidFill>
          <a:ln/>
        </p:spPr>
      </p:sp>
      <p:sp>
        <p:nvSpPr>
          <p:cNvPr id="12" name="Text 10"/>
          <p:cNvSpPr/>
          <p:nvPr/>
        </p:nvSpPr>
        <p:spPr>
          <a:xfrm>
            <a:off x="5522976" y="2121408"/>
            <a:ext cx="2331720" cy="502920"/>
          </a:xfrm>
          <a:prstGeom prst="rect">
            <a:avLst/>
          </a:prstGeom>
          <a:noFill/>
          <a:ln/>
        </p:spPr>
        <p:txBody>
          <a:bodyPr wrap="square" rtlCol="0" anchor="ctr"/>
          <a:lstStyle/>
          <a:p>
            <a:pPr algn="ctr" indent="0" marL="0">
              <a:buNone/>
            </a:pPr>
            <a:r>
              <a:rPr lang="en-US" sz="2100" b="1" dirty="0">
                <a:solidFill>
                  <a:srgbClr val="C9761A"/>
                </a:solidFill>
                <a:latin typeface="Cambria" pitchFamily="34" charset="0"/>
                <a:ea typeface="Cambria" pitchFamily="34" charset="-122"/>
                <a:cs typeface="Cambria" pitchFamily="34" charset="-120"/>
              </a:rPr>
              <a:t>Rp 350 jt</a:t>
            </a:r>
            <a:endParaRPr lang="en-US" sz="2100" dirty="0"/>
          </a:p>
        </p:txBody>
      </p:sp>
      <p:sp>
        <p:nvSpPr>
          <p:cNvPr id="13" name="Text 11"/>
          <p:cNvSpPr/>
          <p:nvPr/>
        </p:nvSpPr>
        <p:spPr>
          <a:xfrm>
            <a:off x="5660136" y="2651760"/>
            <a:ext cx="2057400" cy="914400"/>
          </a:xfrm>
          <a:prstGeom prst="rect">
            <a:avLst/>
          </a:prstGeom>
          <a:noFill/>
          <a:ln/>
        </p:spPr>
        <p:txBody>
          <a:bodyPr wrap="square" rtlCol="0" anchor="ctr"/>
          <a:lstStyle/>
          <a:p>
            <a:pPr algn="ctr" indent="0" marL="0">
              <a:lnSpc>
                <a:spcPts val="1300"/>
              </a:lnSpc>
              <a:buNone/>
            </a:pPr>
            <a:r>
              <a:rPr lang="en-US" sz="1050" dirty="0">
                <a:solidFill>
                  <a:srgbClr val="222A32"/>
                </a:solidFill>
                <a:latin typeface="Calibri" pitchFamily="34" charset="0"/>
                <a:ea typeface="Calibri" pitchFamily="34" charset="-122"/>
                <a:cs typeface="Calibri" pitchFamily="34" charset="-120"/>
              </a:rPr>
              <a:t>Penghematan biaya material (3%) lewat pemantauan persediaan</a:t>
            </a:r>
            <a:endParaRPr lang="en-US" sz="1050" dirty="0"/>
          </a:p>
        </p:txBody>
      </p:sp>
      <p:sp>
        <p:nvSpPr>
          <p:cNvPr id="14" name="Shape 12"/>
          <p:cNvSpPr/>
          <p:nvPr/>
        </p:nvSpPr>
        <p:spPr>
          <a:xfrm>
            <a:off x="548640" y="3840480"/>
            <a:ext cx="7004304" cy="777240"/>
          </a:xfrm>
          <a:prstGeom prst="roundRect">
            <a:avLst>
              <a:gd name="adj" fmla="val 8235"/>
            </a:avLst>
          </a:prstGeom>
          <a:solidFill>
            <a:srgbClr val="1B3A5C"/>
          </a:solidFill>
          <a:ln/>
        </p:spPr>
      </p:sp>
      <p:sp>
        <p:nvSpPr>
          <p:cNvPr id="15" name="Text 13"/>
          <p:cNvSpPr/>
          <p:nvPr/>
        </p:nvSpPr>
        <p:spPr>
          <a:xfrm>
            <a:off x="822960" y="3840480"/>
            <a:ext cx="3200400" cy="7772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Total Manfaat Finansial</a:t>
            </a:r>
            <a:endParaRPr lang="en-US" sz="1400" dirty="0"/>
          </a:p>
        </p:txBody>
      </p:sp>
      <p:sp>
        <p:nvSpPr>
          <p:cNvPr id="16" name="Text 14"/>
          <p:cNvSpPr/>
          <p:nvPr/>
        </p:nvSpPr>
        <p:spPr>
          <a:xfrm>
            <a:off x="4114800" y="3840480"/>
            <a:ext cx="3291840" cy="777240"/>
          </a:xfrm>
          <a:prstGeom prst="rect">
            <a:avLst/>
          </a:prstGeom>
          <a:noFill/>
          <a:ln/>
        </p:spPr>
        <p:txBody>
          <a:bodyPr wrap="square" rtlCol="0" anchor="ctr"/>
          <a:lstStyle/>
          <a:p>
            <a:pPr algn="r" indent="0" marL="0">
              <a:buNone/>
            </a:pPr>
            <a:r>
              <a:rPr lang="en-US" sz="1900" b="1" dirty="0">
                <a:solidFill>
                  <a:srgbClr val="E8912D"/>
                </a:solidFill>
                <a:latin typeface="Cambria" pitchFamily="34" charset="0"/>
                <a:ea typeface="Cambria" pitchFamily="34" charset="-122"/>
                <a:cs typeface="Cambria" pitchFamily="34" charset="-120"/>
              </a:rPr>
              <a:t>≈ Rp 950.000.000 / tahun</a:t>
            </a:r>
            <a:endParaRPr lang="en-US" sz="1900" dirty="0"/>
          </a:p>
        </p:txBody>
      </p:sp>
      <p:sp>
        <p:nvSpPr>
          <p:cNvPr id="17" name="Text 15"/>
          <p:cNvSpPr/>
          <p:nvPr/>
        </p:nvSpPr>
        <p:spPr>
          <a:xfrm>
            <a:off x="548640" y="4846320"/>
            <a:ext cx="7004304" cy="320040"/>
          </a:xfrm>
          <a:prstGeom prst="rect">
            <a:avLst/>
          </a:prstGeom>
          <a:noFill/>
          <a:ln/>
        </p:spPr>
        <p:txBody>
          <a:bodyPr wrap="square" rtlCol="0" anchor="ctr"/>
          <a:lstStyle/>
          <a:p>
            <a:pPr indent="0" marL="0">
              <a:buNone/>
            </a:pPr>
            <a:r>
              <a:rPr lang="en-US" sz="1450" b="1" dirty="0">
                <a:solidFill>
                  <a:srgbClr val="1B3A5C"/>
                </a:solidFill>
                <a:latin typeface="Calibri" pitchFamily="34" charset="0"/>
                <a:ea typeface="Calibri" pitchFamily="34" charset="-122"/>
                <a:cs typeface="Calibri" pitchFamily="34" charset="-120"/>
              </a:rPr>
              <a:t>Manfaat Tidak Nyata (Intangible)</a:t>
            </a:r>
            <a:endParaRPr lang="en-US" sz="1450" dirty="0"/>
          </a:p>
        </p:txBody>
      </p:sp>
      <p:sp>
        <p:nvSpPr>
          <p:cNvPr id="18" name="Text 16"/>
          <p:cNvSpPr/>
          <p:nvPr/>
        </p:nvSpPr>
        <p:spPr>
          <a:xfrm>
            <a:off x="548640" y="5230368"/>
            <a:ext cx="7004304" cy="822960"/>
          </a:xfrm>
          <a:prstGeom prst="rect">
            <a:avLst/>
          </a:prstGeom>
          <a:noFill/>
          <a:ln/>
        </p:spPr>
        <p:txBody>
          <a:bodyPr wrap="square" rtlCol="0" anchor="ctr"/>
          <a:lstStyle/>
          <a:p>
            <a:pPr indent="0" marL="0">
              <a:lnSpc>
                <a:spcPts val="1600"/>
              </a:lnSpc>
              <a:buNone/>
            </a:pPr>
            <a:r>
              <a:rPr lang="en-US" sz="1200" dirty="0">
                <a:solidFill>
                  <a:srgbClr val="222A32"/>
                </a:solidFill>
                <a:latin typeface="Calibri" pitchFamily="34" charset="0"/>
                <a:ea typeface="Calibri" pitchFamily="34" charset="-122"/>
                <a:cs typeface="Calibri" pitchFamily="34" charset="-120"/>
              </a:rPr>
              <a:t>Peningkatan kualitas informasi  •  Integrasi proses bisnis antardivisi  •  Konsistensi data yang lebih baik  •  Pengambilan keputusan manajemen yang lebih cepat</a:t>
            </a:r>
            <a:endParaRPr lang="en-US" sz="1200" dirty="0"/>
          </a:p>
        </p:txBody>
      </p:sp>
      <p:sp>
        <p:nvSpPr>
          <p:cNvPr id="19" name="Shape 17"/>
          <p:cNvSpPr/>
          <p:nvPr/>
        </p:nvSpPr>
        <p:spPr>
          <a:xfrm>
            <a:off x="8001000" y="1508760"/>
            <a:ext cx="3639312" cy="4526280"/>
          </a:xfrm>
          <a:prstGeom prst="roundRect">
            <a:avLst>
              <a:gd name="adj" fmla="val 2010"/>
            </a:avLst>
          </a:prstGeom>
          <a:solidFill>
            <a:srgbClr val="5A6B7A"/>
          </a:solidFill>
          <a:ln/>
        </p:spPr>
      </p:sp>
      <p:sp>
        <p:nvSpPr>
          <p:cNvPr id="20" name="Text 18"/>
          <p:cNvSpPr/>
          <p:nvPr/>
        </p:nvSpPr>
        <p:spPr>
          <a:xfrm>
            <a:off x="8229600" y="1737360"/>
            <a:ext cx="3200400" cy="36576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Justifikasi Investasi</a:t>
            </a:r>
            <a:endParaRPr lang="en-US" sz="1350" dirty="0"/>
          </a:p>
        </p:txBody>
      </p:sp>
      <p:sp>
        <p:nvSpPr>
          <p:cNvPr id="21" name="Text 19"/>
          <p:cNvSpPr/>
          <p:nvPr/>
        </p:nvSpPr>
        <p:spPr>
          <a:xfrm>
            <a:off x="8229600" y="2194560"/>
            <a:ext cx="3200400" cy="3749040"/>
          </a:xfrm>
          <a:prstGeom prst="rect">
            <a:avLst/>
          </a:prstGeom>
          <a:noFill/>
          <a:ln/>
        </p:spPr>
        <p:txBody>
          <a:bodyPr wrap="square" rtlCol="0" anchor="ctr"/>
          <a:lstStyle/>
          <a:p>
            <a:pPr indent="0" marL="0">
              <a:lnSpc>
                <a:spcPts val="1600"/>
              </a:lnSpc>
              <a:buNone/>
            </a:pPr>
            <a:r>
              <a:rPr lang="en-US" sz="1150" dirty="0">
                <a:solidFill>
                  <a:srgbClr val="F0F2F4"/>
                </a:solidFill>
                <a:latin typeface="Calibri" pitchFamily="34" charset="0"/>
                <a:ea typeface="Calibri" pitchFamily="34" charset="-122"/>
                <a:cs typeface="Calibri" pitchFamily="34" charset="-120"/>
              </a:rPr>
              <a:t>Analisis mengacu pada studi Alawiyah et al. (2022) yang menunjukkan sistem informasi manajemen proyek berbasis web mampu mengintegrasikan penjadwalan, pemantauan material, dan perhitungan upah dalam satu platform — memperkuat urgensi pengembangan sistem serupa pada PT Bangun Cipta Nusantara.</a:t>
            </a:r>
            <a:endParaRPr lang="en-US" sz="1150" dirty="0"/>
          </a:p>
          <a:p>
            <a:pPr indent="0" marL="0">
              <a:lnSpc>
                <a:spcPts val="1600"/>
              </a:lnSpc>
              <a:buNone/>
            </a:pPr>
            <a:endParaRPr lang="en-US" sz="1150" dirty="0"/>
          </a:p>
          <a:p>
            <a:pPr indent="0" marL="0">
              <a:lnSpc>
                <a:spcPts val="1600"/>
              </a:lnSpc>
              <a:buNone/>
            </a:pPr>
            <a:r>
              <a:rPr lang="en-US" sz="1150" dirty="0">
                <a:solidFill>
                  <a:srgbClr val="F0F2F4"/>
                </a:solidFill>
                <a:latin typeface="Calibri" pitchFamily="34" charset="0"/>
                <a:ea typeface="Calibri" pitchFamily="34" charset="-122"/>
                <a:cs typeface="Calibri" pitchFamily="34" charset="-120"/>
              </a:rPr>
              <a:t>Dengan manfaat finansial dan strategis yang dihasilkan, pengembangan SIMProKon dinilai memiliki justifikasi investasi yang memadai.</a:t>
            </a:r>
            <a:endParaRPr lang="en-US" sz="1150" dirty="0"/>
          </a:p>
        </p:txBody>
      </p:sp>
      <p:sp>
        <p:nvSpPr>
          <p:cNvPr id="22" name="Text 2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5A6B7A"/>
                </a:solidFill>
                <a:latin typeface="Calibri" pitchFamily="34" charset="0"/>
                <a:ea typeface="Calibri" pitchFamily="34" charset="-122"/>
                <a:cs typeface="Calibri" pitchFamily="34" charset="-120"/>
              </a:rPr>
              <a:t>Analisis Biaya-Manfaat</a:t>
            </a:r>
            <a:endParaRPr lang="en-US" sz="900" dirty="0"/>
          </a:p>
        </p:txBody>
      </p:sp>
      <p:sp>
        <p:nvSpPr>
          <p:cNvPr id="23" name="Text 21"/>
          <p:cNvSpPr/>
          <p:nvPr/>
        </p:nvSpPr>
        <p:spPr>
          <a:xfrm>
            <a:off x="9262872" y="6473952"/>
            <a:ext cx="24688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SIMProKon  •  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rtlCol="0" anchor="ctr"/>
          <a:lstStyle/>
          <a:p>
            <a:pPr indent="0" marL="0">
              <a:buNone/>
            </a:pPr>
            <a:r>
              <a:rPr lang="en-US" sz="1200" b="1" spc="100" kern="0" dirty="0">
                <a:solidFill>
                  <a:srgbClr val="C9761A"/>
                </a:solidFill>
                <a:latin typeface="Calibri" pitchFamily="34" charset="0"/>
                <a:ea typeface="Calibri" pitchFamily="34" charset="-122"/>
                <a:cs typeface="Calibri" pitchFamily="34" charset="-120"/>
              </a:rPr>
              <a:t>07   PELAKSANAAN &amp; PENGENDALIAN</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indent="0" marL="0">
              <a:buNone/>
            </a:pPr>
            <a:r>
              <a:rPr lang="en-US" sz="2600" b="1" dirty="0">
                <a:solidFill>
                  <a:srgbClr val="1B3A5C"/>
                </a:solidFill>
                <a:latin typeface="Cambria" pitchFamily="34" charset="0"/>
                <a:ea typeface="Cambria" pitchFamily="34" charset="-122"/>
                <a:cs typeface="Cambria" pitchFamily="34" charset="-120"/>
              </a:rPr>
              <a:t>Implementasi Bertahap &amp; Pengukuran Kinerja (EVM)</a:t>
            </a:r>
            <a:endParaRPr lang="en-US" sz="2600" dirty="0"/>
          </a:p>
        </p:txBody>
      </p:sp>
      <p:sp>
        <p:nvSpPr>
          <p:cNvPr id="4" name="Text 2"/>
          <p:cNvSpPr/>
          <p:nvPr/>
        </p:nvSpPr>
        <p:spPr>
          <a:xfrm>
            <a:off x="548640" y="1508760"/>
            <a:ext cx="5212080" cy="320040"/>
          </a:xfrm>
          <a:prstGeom prst="rect">
            <a:avLst/>
          </a:prstGeom>
          <a:noFill/>
          <a:ln/>
        </p:spPr>
        <p:txBody>
          <a:bodyPr wrap="square" rtlCol="0" anchor="ctr"/>
          <a:lstStyle/>
          <a:p>
            <a:pPr indent="0" marL="0">
              <a:buNone/>
            </a:pPr>
            <a:r>
              <a:rPr lang="en-US" sz="1450" b="1" dirty="0">
                <a:solidFill>
                  <a:srgbClr val="1B3A5C"/>
                </a:solidFill>
                <a:latin typeface="Calibri" pitchFamily="34" charset="0"/>
                <a:ea typeface="Calibri" pitchFamily="34" charset="-122"/>
                <a:cs typeface="Calibri" pitchFamily="34" charset="-120"/>
              </a:rPr>
              <a:t>Strategi Implementasi</a:t>
            </a:r>
            <a:endParaRPr lang="en-US" sz="1450" dirty="0"/>
          </a:p>
        </p:txBody>
      </p:sp>
      <p:sp>
        <p:nvSpPr>
          <p:cNvPr id="5" name="Shape 3"/>
          <p:cNvSpPr/>
          <p:nvPr/>
        </p:nvSpPr>
        <p:spPr>
          <a:xfrm>
            <a:off x="548640" y="1965960"/>
            <a:ext cx="365760" cy="365760"/>
          </a:xfrm>
          <a:prstGeom prst="ellipse">
            <a:avLst/>
          </a:prstGeom>
          <a:solidFill>
            <a:srgbClr val="E8912D"/>
          </a:solidFill>
          <a:ln/>
        </p:spPr>
      </p:sp>
      <p:sp>
        <p:nvSpPr>
          <p:cNvPr id="6" name="Text 4"/>
          <p:cNvSpPr/>
          <p:nvPr/>
        </p:nvSpPr>
        <p:spPr>
          <a:xfrm>
            <a:off x="548640" y="196596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97280" y="1911096"/>
            <a:ext cx="4709160" cy="731520"/>
          </a:xfrm>
          <a:prstGeom prst="rect">
            <a:avLst/>
          </a:prstGeom>
          <a:noFill/>
          <a:ln/>
        </p:spPr>
        <p:txBody>
          <a:bodyPr wrap="square" rtlCol="0" anchor="ctr"/>
          <a:lstStyle/>
          <a:p>
            <a:pPr indent="0" marL="0">
              <a:lnSpc>
                <a:spcPts val="1400"/>
              </a:lnSpc>
              <a:buNone/>
            </a:pPr>
            <a:r>
              <a:rPr lang="en-US" sz="1180" dirty="0">
                <a:solidFill>
                  <a:srgbClr val="222A32"/>
                </a:solidFill>
                <a:latin typeface="Calibri" pitchFamily="34" charset="0"/>
                <a:ea typeface="Calibri" pitchFamily="34" charset="-122"/>
                <a:cs typeface="Calibri" pitchFamily="34" charset="-120"/>
              </a:rPr>
              <a:t>Deployment bertahap (phased), dimulai dari modul keuangan lalu logistik dan modul lain</a:t>
            </a:r>
            <a:endParaRPr lang="en-US" sz="1180" dirty="0"/>
          </a:p>
        </p:txBody>
      </p:sp>
      <p:sp>
        <p:nvSpPr>
          <p:cNvPr id="8" name="Shape 6"/>
          <p:cNvSpPr/>
          <p:nvPr/>
        </p:nvSpPr>
        <p:spPr>
          <a:xfrm>
            <a:off x="548640" y="2834640"/>
            <a:ext cx="365760" cy="365760"/>
          </a:xfrm>
          <a:prstGeom prst="ellipse">
            <a:avLst/>
          </a:prstGeom>
          <a:solidFill>
            <a:srgbClr val="E8912D"/>
          </a:solidFill>
          <a:ln/>
        </p:spPr>
      </p:sp>
      <p:sp>
        <p:nvSpPr>
          <p:cNvPr id="9" name="Text 7"/>
          <p:cNvSpPr/>
          <p:nvPr/>
        </p:nvSpPr>
        <p:spPr>
          <a:xfrm>
            <a:off x="548640" y="283464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97280" y="2779776"/>
            <a:ext cx="4709160" cy="731520"/>
          </a:xfrm>
          <a:prstGeom prst="rect">
            <a:avLst/>
          </a:prstGeom>
          <a:noFill/>
          <a:ln/>
        </p:spPr>
        <p:txBody>
          <a:bodyPr wrap="square" rtlCol="0" anchor="ctr"/>
          <a:lstStyle/>
          <a:p>
            <a:pPr indent="0" marL="0">
              <a:lnSpc>
                <a:spcPts val="1400"/>
              </a:lnSpc>
              <a:buNone/>
            </a:pPr>
            <a:r>
              <a:rPr lang="en-US" sz="1180" dirty="0">
                <a:solidFill>
                  <a:srgbClr val="222A32"/>
                </a:solidFill>
                <a:latin typeface="Calibri" pitchFamily="34" charset="0"/>
                <a:ea typeface="Calibri" pitchFamily="34" charset="-122"/>
                <a:cs typeface="Calibri" pitchFamily="34" charset="-120"/>
              </a:rPr>
              <a:t>Migrasi data master dilakukan sebelum setiap fase go-live</a:t>
            </a:r>
            <a:endParaRPr lang="en-US" sz="1180" dirty="0"/>
          </a:p>
        </p:txBody>
      </p:sp>
      <p:sp>
        <p:nvSpPr>
          <p:cNvPr id="11" name="Shape 9"/>
          <p:cNvSpPr/>
          <p:nvPr/>
        </p:nvSpPr>
        <p:spPr>
          <a:xfrm>
            <a:off x="548640" y="3703320"/>
            <a:ext cx="365760" cy="365760"/>
          </a:xfrm>
          <a:prstGeom prst="ellipse">
            <a:avLst/>
          </a:prstGeom>
          <a:solidFill>
            <a:srgbClr val="E8912D"/>
          </a:solidFill>
          <a:ln/>
        </p:spPr>
      </p:sp>
      <p:sp>
        <p:nvSpPr>
          <p:cNvPr id="12" name="Text 10"/>
          <p:cNvSpPr/>
          <p:nvPr/>
        </p:nvSpPr>
        <p:spPr>
          <a:xfrm>
            <a:off x="548640" y="370332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1097280" y="3648456"/>
            <a:ext cx="4709160" cy="731520"/>
          </a:xfrm>
          <a:prstGeom prst="rect">
            <a:avLst/>
          </a:prstGeom>
          <a:noFill/>
          <a:ln/>
        </p:spPr>
        <p:txBody>
          <a:bodyPr wrap="square" rtlCol="0" anchor="ctr"/>
          <a:lstStyle/>
          <a:p>
            <a:pPr indent="0" marL="0">
              <a:lnSpc>
                <a:spcPts val="1400"/>
              </a:lnSpc>
              <a:buNone/>
            </a:pPr>
            <a:r>
              <a:rPr lang="en-US" sz="1180" dirty="0">
                <a:solidFill>
                  <a:srgbClr val="222A32"/>
                </a:solidFill>
                <a:latin typeface="Calibri" pitchFamily="34" charset="0"/>
                <a:ea typeface="Calibri" pitchFamily="34" charset="-122"/>
                <a:cs typeface="Calibri" pitchFamily="34" charset="-120"/>
              </a:rPr>
              <a:t>Pelatihan pengguna akhir &amp; change management sebelum sistem digunakan penuh</a:t>
            </a:r>
            <a:endParaRPr lang="en-US" sz="1180" dirty="0"/>
          </a:p>
        </p:txBody>
      </p:sp>
      <p:sp>
        <p:nvSpPr>
          <p:cNvPr id="14" name="Shape 12"/>
          <p:cNvSpPr/>
          <p:nvPr/>
        </p:nvSpPr>
        <p:spPr>
          <a:xfrm>
            <a:off x="548640" y="4572000"/>
            <a:ext cx="365760" cy="365760"/>
          </a:xfrm>
          <a:prstGeom prst="ellipse">
            <a:avLst/>
          </a:prstGeom>
          <a:solidFill>
            <a:srgbClr val="E8912D"/>
          </a:solidFill>
          <a:ln/>
        </p:spPr>
      </p:sp>
      <p:sp>
        <p:nvSpPr>
          <p:cNvPr id="15" name="Text 13"/>
          <p:cNvSpPr/>
          <p:nvPr/>
        </p:nvSpPr>
        <p:spPr>
          <a:xfrm>
            <a:off x="548640" y="4572000"/>
            <a:ext cx="365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p:nvPr/>
        </p:nvSpPr>
        <p:spPr>
          <a:xfrm>
            <a:off x="1097280" y="4517136"/>
            <a:ext cx="4709160" cy="731520"/>
          </a:xfrm>
          <a:prstGeom prst="rect">
            <a:avLst/>
          </a:prstGeom>
          <a:noFill/>
          <a:ln/>
        </p:spPr>
        <p:txBody>
          <a:bodyPr wrap="square" rtlCol="0" anchor="ctr"/>
          <a:lstStyle/>
          <a:p>
            <a:pPr indent="0" marL="0">
              <a:lnSpc>
                <a:spcPts val="1400"/>
              </a:lnSpc>
              <a:buNone/>
            </a:pPr>
            <a:r>
              <a:rPr lang="en-US" sz="1180" dirty="0">
                <a:solidFill>
                  <a:srgbClr val="222A32"/>
                </a:solidFill>
                <a:latin typeface="Calibri" pitchFamily="34" charset="0"/>
                <a:ea typeface="Calibri" pitchFamily="34" charset="-122"/>
                <a:cs typeface="Calibri" pitchFamily="34" charset="-120"/>
              </a:rPr>
              <a:t>Dukungan pascapeluncuran selama 2 minggu di setiap fase go-live</a:t>
            </a:r>
            <a:endParaRPr lang="en-US" sz="1180" dirty="0"/>
          </a:p>
        </p:txBody>
      </p:sp>
      <p:sp>
        <p:nvSpPr>
          <p:cNvPr id="17" name="Shape 15"/>
          <p:cNvSpPr/>
          <p:nvPr/>
        </p:nvSpPr>
        <p:spPr>
          <a:xfrm>
            <a:off x="6035040" y="1463040"/>
            <a:ext cx="5605272" cy="4709160"/>
          </a:xfrm>
          <a:prstGeom prst="roundRect">
            <a:avLst>
              <a:gd name="adj" fmla="val 1553"/>
            </a:avLst>
          </a:prstGeom>
          <a:solidFill>
            <a:srgbClr val="1B3A5C"/>
          </a:solidFill>
          <a:ln/>
        </p:spPr>
      </p:sp>
      <p:sp>
        <p:nvSpPr>
          <p:cNvPr id="18" name="Text 16"/>
          <p:cNvSpPr/>
          <p:nvPr/>
        </p:nvSpPr>
        <p:spPr>
          <a:xfrm>
            <a:off x="6309360" y="1645920"/>
            <a:ext cx="512064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Indikator Earned Value Management</a:t>
            </a:r>
            <a:endParaRPr lang="en-US" sz="1400" dirty="0"/>
          </a:p>
        </p:txBody>
      </p:sp>
      <p:sp>
        <p:nvSpPr>
          <p:cNvPr id="19" name="Shape 17"/>
          <p:cNvSpPr/>
          <p:nvPr/>
        </p:nvSpPr>
        <p:spPr>
          <a:xfrm>
            <a:off x="6309360" y="2148840"/>
            <a:ext cx="1554480" cy="1005840"/>
          </a:xfrm>
          <a:prstGeom prst="roundRect">
            <a:avLst>
              <a:gd name="adj" fmla="val 5455"/>
            </a:avLst>
          </a:prstGeom>
          <a:solidFill>
            <a:srgbClr val="24486C"/>
          </a:solidFill>
          <a:ln/>
        </p:spPr>
      </p:sp>
      <p:sp>
        <p:nvSpPr>
          <p:cNvPr id="20" name="Text 18"/>
          <p:cNvSpPr/>
          <p:nvPr/>
        </p:nvSpPr>
        <p:spPr>
          <a:xfrm>
            <a:off x="6309360" y="2258568"/>
            <a:ext cx="1554480" cy="502920"/>
          </a:xfrm>
          <a:prstGeom prst="rect">
            <a:avLst/>
          </a:prstGeom>
          <a:noFill/>
          <a:ln/>
        </p:spPr>
        <p:txBody>
          <a:bodyPr wrap="square" rtlCol="0" anchor="ctr"/>
          <a:lstStyle/>
          <a:p>
            <a:pPr algn="ctr" indent="0" marL="0">
              <a:buNone/>
            </a:pPr>
            <a:r>
              <a:rPr lang="en-US" sz="2200" b="1" dirty="0">
                <a:solidFill>
                  <a:srgbClr val="E8912D"/>
                </a:solidFill>
                <a:latin typeface="Cambria" pitchFamily="34" charset="0"/>
                <a:ea typeface="Cambria" pitchFamily="34" charset="-122"/>
                <a:cs typeface="Cambria" pitchFamily="34" charset="-120"/>
              </a:rPr>
              <a:t>1,046</a:t>
            </a:r>
            <a:endParaRPr lang="en-US" sz="2200" dirty="0"/>
          </a:p>
        </p:txBody>
      </p:sp>
      <p:sp>
        <p:nvSpPr>
          <p:cNvPr id="21" name="Text 19"/>
          <p:cNvSpPr/>
          <p:nvPr/>
        </p:nvSpPr>
        <p:spPr>
          <a:xfrm>
            <a:off x="6355080" y="2743200"/>
            <a:ext cx="1463040" cy="365760"/>
          </a:xfrm>
          <a:prstGeom prst="rect">
            <a:avLst/>
          </a:prstGeom>
          <a:noFill/>
          <a:ln/>
        </p:spPr>
        <p:txBody>
          <a:bodyPr wrap="square" rtlCol="0" anchor="ctr"/>
          <a:lstStyle/>
          <a:p>
            <a:pPr algn="ctr" indent="0" marL="0">
              <a:buNone/>
            </a:pPr>
            <a:r>
              <a:rPr lang="en-US" sz="950" b="1" dirty="0">
                <a:solidFill>
                  <a:srgbClr val="C9D4DD"/>
                </a:solidFill>
                <a:latin typeface="Calibri" pitchFamily="34" charset="0"/>
                <a:ea typeface="Calibri" pitchFamily="34" charset="-122"/>
                <a:cs typeface="Calibri" pitchFamily="34" charset="-120"/>
              </a:rPr>
              <a:t>TCPI (BAC)</a:t>
            </a:r>
            <a:endParaRPr lang="en-US" sz="950" dirty="0"/>
          </a:p>
        </p:txBody>
      </p:sp>
      <p:sp>
        <p:nvSpPr>
          <p:cNvPr id="22" name="Text 20"/>
          <p:cNvSpPr/>
          <p:nvPr/>
        </p:nvSpPr>
        <p:spPr>
          <a:xfrm>
            <a:off x="8001000" y="2148840"/>
            <a:ext cx="3520440" cy="1005840"/>
          </a:xfrm>
          <a:prstGeom prst="rect">
            <a:avLst/>
          </a:prstGeom>
          <a:noFill/>
          <a:ln/>
        </p:spPr>
        <p:txBody>
          <a:bodyPr wrap="square" rtlCol="0" anchor="ctr"/>
          <a:lstStyle/>
          <a:p>
            <a:pPr indent="0" marL="0">
              <a:lnSpc>
                <a:spcPts val="1400"/>
              </a:lnSpc>
              <a:buNone/>
            </a:pPr>
            <a:r>
              <a:rPr lang="en-US" sz="1100" dirty="0">
                <a:solidFill>
                  <a:srgbClr val="E7EDF2"/>
                </a:solidFill>
                <a:latin typeface="Calibri" pitchFamily="34" charset="0"/>
                <a:ea typeface="Calibri" pitchFamily="34" charset="-122"/>
                <a:cs typeface="Calibri" pitchFamily="34" charset="-120"/>
              </a:rPr>
              <a:t>Efisiensi yang dibutuhkan untuk mencapai anggaran awal — nyaris ideal (1,0)</a:t>
            </a:r>
            <a:endParaRPr lang="en-US" sz="1100" dirty="0"/>
          </a:p>
        </p:txBody>
      </p:sp>
      <p:sp>
        <p:nvSpPr>
          <p:cNvPr id="23" name="Shape 21"/>
          <p:cNvSpPr/>
          <p:nvPr/>
        </p:nvSpPr>
        <p:spPr>
          <a:xfrm>
            <a:off x="6309360" y="3337560"/>
            <a:ext cx="1554480" cy="1005840"/>
          </a:xfrm>
          <a:prstGeom prst="roundRect">
            <a:avLst>
              <a:gd name="adj" fmla="val 5455"/>
            </a:avLst>
          </a:prstGeom>
          <a:solidFill>
            <a:srgbClr val="24486C"/>
          </a:solidFill>
          <a:ln/>
        </p:spPr>
      </p:sp>
      <p:sp>
        <p:nvSpPr>
          <p:cNvPr id="24" name="Text 22"/>
          <p:cNvSpPr/>
          <p:nvPr/>
        </p:nvSpPr>
        <p:spPr>
          <a:xfrm>
            <a:off x="6309360" y="3447288"/>
            <a:ext cx="1554480" cy="502920"/>
          </a:xfrm>
          <a:prstGeom prst="rect">
            <a:avLst/>
          </a:prstGeom>
          <a:noFill/>
          <a:ln/>
        </p:spPr>
        <p:txBody>
          <a:bodyPr wrap="square" rtlCol="0" anchor="ctr"/>
          <a:lstStyle/>
          <a:p>
            <a:pPr algn="ctr" indent="0" marL="0">
              <a:buNone/>
            </a:pPr>
            <a:r>
              <a:rPr lang="en-US" sz="2200" b="1" dirty="0">
                <a:solidFill>
                  <a:srgbClr val="E8912D"/>
                </a:solidFill>
                <a:latin typeface="Cambria" pitchFamily="34" charset="0"/>
                <a:ea typeface="Cambria" pitchFamily="34" charset="-122"/>
                <a:cs typeface="Cambria" pitchFamily="34" charset="-120"/>
              </a:rPr>
              <a:t>0,833</a:t>
            </a:r>
            <a:endParaRPr lang="en-US" sz="2200" dirty="0"/>
          </a:p>
        </p:txBody>
      </p:sp>
      <p:sp>
        <p:nvSpPr>
          <p:cNvPr id="25" name="Text 23"/>
          <p:cNvSpPr/>
          <p:nvPr/>
        </p:nvSpPr>
        <p:spPr>
          <a:xfrm>
            <a:off x="6355080" y="3931920"/>
            <a:ext cx="1463040" cy="365760"/>
          </a:xfrm>
          <a:prstGeom prst="rect">
            <a:avLst/>
          </a:prstGeom>
          <a:noFill/>
          <a:ln/>
        </p:spPr>
        <p:txBody>
          <a:bodyPr wrap="square" rtlCol="0" anchor="ctr"/>
          <a:lstStyle/>
          <a:p>
            <a:pPr algn="ctr" indent="0" marL="0">
              <a:buNone/>
            </a:pPr>
            <a:r>
              <a:rPr lang="en-US" sz="950" b="1" dirty="0">
                <a:solidFill>
                  <a:srgbClr val="C9D4DD"/>
                </a:solidFill>
                <a:latin typeface="Calibri" pitchFamily="34" charset="0"/>
                <a:ea typeface="Calibri" pitchFamily="34" charset="-122"/>
                <a:cs typeface="Calibri" pitchFamily="34" charset="-120"/>
              </a:rPr>
              <a:t>TCPI (EAC revisi)</a:t>
            </a:r>
            <a:endParaRPr lang="en-US" sz="950" dirty="0"/>
          </a:p>
        </p:txBody>
      </p:sp>
      <p:sp>
        <p:nvSpPr>
          <p:cNvPr id="26" name="Text 24"/>
          <p:cNvSpPr/>
          <p:nvPr/>
        </p:nvSpPr>
        <p:spPr>
          <a:xfrm>
            <a:off x="8001000" y="3337560"/>
            <a:ext cx="3520440" cy="1005840"/>
          </a:xfrm>
          <a:prstGeom prst="rect">
            <a:avLst/>
          </a:prstGeom>
          <a:noFill/>
          <a:ln/>
        </p:spPr>
        <p:txBody>
          <a:bodyPr wrap="square" rtlCol="0" anchor="ctr"/>
          <a:lstStyle/>
          <a:p>
            <a:pPr indent="0" marL="0">
              <a:lnSpc>
                <a:spcPts val="1400"/>
              </a:lnSpc>
              <a:buNone/>
            </a:pPr>
            <a:r>
              <a:rPr lang="en-US" sz="1100" dirty="0">
                <a:solidFill>
                  <a:srgbClr val="E7EDF2"/>
                </a:solidFill>
                <a:latin typeface="Calibri" pitchFamily="34" charset="0"/>
                <a:ea typeface="Calibri" pitchFamily="34" charset="-122"/>
                <a:cs typeface="Calibri" pitchFamily="34" charset="-120"/>
              </a:rPr>
              <a:t>Target efisiensi jika mengacu pada estimasi biaya akhir yang direvisi — masih tercapai</a:t>
            </a:r>
            <a:endParaRPr lang="en-US" sz="1100" dirty="0"/>
          </a:p>
        </p:txBody>
      </p:sp>
      <p:sp>
        <p:nvSpPr>
          <p:cNvPr id="27" name="Shape 25"/>
          <p:cNvSpPr/>
          <p:nvPr/>
        </p:nvSpPr>
        <p:spPr>
          <a:xfrm>
            <a:off x="6309360" y="4572000"/>
            <a:ext cx="5074920" cy="0"/>
          </a:xfrm>
          <a:prstGeom prst="line">
            <a:avLst/>
          </a:prstGeom>
          <a:noFill/>
          <a:ln w="12700">
            <a:solidFill>
              <a:srgbClr val="3E5A78"/>
            </a:solidFill>
            <a:prstDash val="solid"/>
          </a:ln>
        </p:spPr>
      </p:sp>
      <p:sp>
        <p:nvSpPr>
          <p:cNvPr id="28" name="Text 26"/>
          <p:cNvSpPr/>
          <p:nvPr/>
        </p:nvSpPr>
        <p:spPr>
          <a:xfrm>
            <a:off x="6309360" y="4754880"/>
            <a:ext cx="5074920" cy="1737360"/>
          </a:xfrm>
          <a:prstGeom prst="rect">
            <a:avLst/>
          </a:prstGeom>
          <a:noFill/>
          <a:ln/>
        </p:spPr>
        <p:txBody>
          <a:bodyPr wrap="square" rtlCol="0" anchor="ctr"/>
          <a:lstStyle/>
          <a:p>
            <a:pPr indent="0" marL="0">
              <a:lnSpc>
                <a:spcPts val="1500"/>
              </a:lnSpc>
              <a:buNone/>
            </a:pPr>
            <a:r>
              <a:rPr lang="en-US" sz="1100" i="1" dirty="0">
                <a:solidFill>
                  <a:srgbClr val="D8E1E8"/>
                </a:solidFill>
                <a:latin typeface="Calibri" pitchFamily="34" charset="0"/>
                <a:ea typeface="Calibri" pitchFamily="34" charset="-122"/>
                <a:cs typeface="Calibri" pitchFamily="34" charset="-120"/>
              </a:rPr>
              <a:t>Tiga formula Estimate at Completion (EAC) dihitung berdasarkan asumsi berbeda: efisiensi biaya konstan, sisa pekerjaan sesuai rencana awal, atau kombinasi faktor biaya dan jadwal — memberi manajemen gambaran skenario terbaik hingga terburuk.</a:t>
            </a:r>
            <a:endParaRPr lang="en-US" sz="1100" dirty="0"/>
          </a:p>
        </p:txBody>
      </p:sp>
      <p:sp>
        <p:nvSpPr>
          <p:cNvPr id="29" name="Text 27"/>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5A6B7A"/>
                </a:solidFill>
                <a:latin typeface="Calibri" pitchFamily="34" charset="0"/>
                <a:ea typeface="Calibri" pitchFamily="34" charset="-122"/>
                <a:cs typeface="Calibri" pitchFamily="34" charset="-120"/>
              </a:rPr>
              <a:t>Implementasi Bertahap &amp; Earned Value Management</a:t>
            </a:r>
            <a:endParaRPr lang="en-US" sz="900" dirty="0"/>
          </a:p>
        </p:txBody>
      </p:sp>
      <p:sp>
        <p:nvSpPr>
          <p:cNvPr id="30" name="Text 28"/>
          <p:cNvSpPr/>
          <p:nvPr/>
        </p:nvSpPr>
        <p:spPr>
          <a:xfrm>
            <a:off x="9262872" y="6473952"/>
            <a:ext cx="2468880" cy="274320"/>
          </a:xfrm>
          <a:prstGeom prst="rect">
            <a:avLst/>
          </a:prstGeom>
          <a:noFill/>
          <a:ln/>
        </p:spPr>
        <p:txBody>
          <a:bodyPr wrap="square" rtlCol="0" anchor="ctr"/>
          <a:lstStyle/>
          <a:p>
            <a:pPr algn="r" indent="0" marL="0">
              <a:buNone/>
            </a:pPr>
            <a:r>
              <a:rPr lang="en-US" sz="900" dirty="0">
                <a:solidFill>
                  <a:srgbClr val="5A6B7A"/>
                </a:solidFill>
                <a:latin typeface="Calibri" pitchFamily="34" charset="0"/>
                <a:ea typeface="Calibri" pitchFamily="34" charset="-122"/>
                <a:cs typeface="Calibri" pitchFamily="34" charset="-120"/>
              </a:rPr>
              <a:t>SIMProKon  •  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A44"/>
        </a:solidFill>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indent="0" marL="0">
              <a:buNone/>
            </a:pPr>
            <a:r>
              <a:rPr lang="en-US" sz="1200" b="1" spc="100" kern="0" dirty="0">
                <a:solidFill>
                  <a:srgbClr val="E8912D"/>
                </a:solidFill>
                <a:latin typeface="Calibri" pitchFamily="34" charset="0"/>
                <a:ea typeface="Calibri" pitchFamily="34" charset="-122"/>
                <a:cs typeface="Calibri" pitchFamily="34" charset="-120"/>
              </a:rPr>
              <a:t>08   PENUTUP</a:t>
            </a:r>
            <a:endParaRPr lang="en-US" sz="1200" dirty="0"/>
          </a:p>
        </p:txBody>
      </p:sp>
      <p:sp>
        <p:nvSpPr>
          <p:cNvPr id="3" name="Text 1"/>
          <p:cNvSpPr/>
          <p:nvPr/>
        </p:nvSpPr>
        <p:spPr>
          <a:xfrm>
            <a:off x="548640" y="685800"/>
            <a:ext cx="1078992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Penutupan Proyek, Pemeliharaan &amp; Kesimpulan</a:t>
            </a:r>
            <a:endParaRPr lang="en-US" sz="2700" dirty="0"/>
          </a:p>
        </p:txBody>
      </p:sp>
      <p:sp>
        <p:nvSpPr>
          <p:cNvPr id="4" name="Shape 2"/>
          <p:cNvSpPr/>
          <p:nvPr/>
        </p:nvSpPr>
        <p:spPr>
          <a:xfrm>
            <a:off x="548640" y="1508760"/>
            <a:ext cx="2697480" cy="1554480"/>
          </a:xfrm>
          <a:prstGeom prst="roundRect">
            <a:avLst>
              <a:gd name="adj" fmla="val 4118"/>
            </a:avLst>
          </a:prstGeom>
          <a:solidFill>
            <a:srgbClr val="1B3A5C"/>
          </a:solidFill>
          <a:ln/>
        </p:spPr>
      </p:sp>
      <p:sp>
        <p:nvSpPr>
          <p:cNvPr id="5" name="Text 3"/>
          <p:cNvSpPr/>
          <p:nvPr/>
        </p:nvSpPr>
        <p:spPr>
          <a:xfrm>
            <a:off x="713232" y="1664208"/>
            <a:ext cx="2377440" cy="365760"/>
          </a:xfrm>
          <a:prstGeom prst="rect">
            <a:avLst/>
          </a:prstGeom>
          <a:noFill/>
          <a:ln/>
        </p:spPr>
        <p:txBody>
          <a:bodyPr wrap="square" rtlCol="0" anchor="ctr"/>
          <a:lstStyle/>
          <a:p>
            <a:pPr indent="0" marL="0">
              <a:buNone/>
            </a:pPr>
            <a:r>
              <a:rPr lang="en-US" sz="1350" b="1" dirty="0">
                <a:solidFill>
                  <a:srgbClr val="E8912D"/>
                </a:solidFill>
                <a:latin typeface="Calibri" pitchFamily="34" charset="0"/>
                <a:ea typeface="Calibri" pitchFamily="34" charset="-122"/>
                <a:cs typeface="Calibri" pitchFamily="34" charset="-120"/>
              </a:rPr>
              <a:t>Administratif</a:t>
            </a:r>
            <a:endParaRPr lang="en-US" sz="1350" dirty="0"/>
          </a:p>
        </p:txBody>
      </p:sp>
      <p:sp>
        <p:nvSpPr>
          <p:cNvPr id="6" name="Text 4"/>
          <p:cNvSpPr/>
          <p:nvPr/>
        </p:nvSpPr>
        <p:spPr>
          <a:xfrm>
            <a:off x="713232" y="2057400"/>
            <a:ext cx="2377440" cy="914400"/>
          </a:xfrm>
          <a:prstGeom prst="rect">
            <a:avLst/>
          </a:prstGeom>
          <a:noFill/>
          <a:ln/>
        </p:spPr>
        <p:txBody>
          <a:bodyPr wrap="square" rtlCol="0" anchor="ctr"/>
          <a:lstStyle/>
          <a:p>
            <a:pPr indent="0" marL="0">
              <a:lnSpc>
                <a:spcPts val="1300"/>
              </a:lnSpc>
              <a:buNone/>
            </a:pPr>
            <a:r>
              <a:rPr lang="en-US" sz="1050" dirty="0">
                <a:solidFill>
                  <a:srgbClr val="E7EDF2"/>
                </a:solidFill>
                <a:latin typeface="Calibri" pitchFamily="34" charset="0"/>
                <a:ea typeface="Calibri" pitchFamily="34" charset="-122"/>
                <a:cs typeface="Calibri" pitchFamily="34" charset="-120"/>
              </a:rPr>
              <a:t>Dokumen final, kontrak vendor, &amp; berita acara serah terima</a:t>
            </a:r>
            <a:endParaRPr lang="en-US" sz="1050" dirty="0"/>
          </a:p>
        </p:txBody>
      </p:sp>
      <p:sp>
        <p:nvSpPr>
          <p:cNvPr id="7" name="Shape 5"/>
          <p:cNvSpPr/>
          <p:nvPr/>
        </p:nvSpPr>
        <p:spPr>
          <a:xfrm>
            <a:off x="3364992" y="1508760"/>
            <a:ext cx="2697480" cy="1554480"/>
          </a:xfrm>
          <a:prstGeom prst="roundRect">
            <a:avLst>
              <a:gd name="adj" fmla="val 4118"/>
            </a:avLst>
          </a:prstGeom>
          <a:solidFill>
            <a:srgbClr val="1B3A5C"/>
          </a:solidFill>
          <a:ln/>
        </p:spPr>
      </p:sp>
      <p:sp>
        <p:nvSpPr>
          <p:cNvPr id="8" name="Text 6"/>
          <p:cNvSpPr/>
          <p:nvPr/>
        </p:nvSpPr>
        <p:spPr>
          <a:xfrm>
            <a:off x="3529584" y="1664208"/>
            <a:ext cx="2377440" cy="365760"/>
          </a:xfrm>
          <a:prstGeom prst="rect">
            <a:avLst/>
          </a:prstGeom>
          <a:noFill/>
          <a:ln/>
        </p:spPr>
        <p:txBody>
          <a:bodyPr wrap="square" rtlCol="0" anchor="ctr"/>
          <a:lstStyle/>
          <a:p>
            <a:pPr indent="0" marL="0">
              <a:buNone/>
            </a:pPr>
            <a:r>
              <a:rPr lang="en-US" sz="1350" b="1" dirty="0">
                <a:solidFill>
                  <a:srgbClr val="E8912D"/>
                </a:solidFill>
                <a:latin typeface="Calibri" pitchFamily="34" charset="0"/>
                <a:ea typeface="Calibri" pitchFamily="34" charset="-122"/>
                <a:cs typeface="Calibri" pitchFamily="34" charset="-120"/>
              </a:rPr>
              <a:t>Teknis</a:t>
            </a:r>
            <a:endParaRPr lang="en-US" sz="1350" dirty="0"/>
          </a:p>
        </p:txBody>
      </p:sp>
      <p:sp>
        <p:nvSpPr>
          <p:cNvPr id="9" name="Text 7"/>
          <p:cNvSpPr/>
          <p:nvPr/>
        </p:nvSpPr>
        <p:spPr>
          <a:xfrm>
            <a:off x="3529584" y="2057400"/>
            <a:ext cx="2377440" cy="914400"/>
          </a:xfrm>
          <a:prstGeom prst="rect">
            <a:avLst/>
          </a:prstGeom>
          <a:noFill/>
          <a:ln/>
        </p:spPr>
        <p:txBody>
          <a:bodyPr wrap="square" rtlCol="0" anchor="ctr"/>
          <a:lstStyle/>
          <a:p>
            <a:pPr indent="0" marL="0">
              <a:lnSpc>
                <a:spcPts val="1300"/>
              </a:lnSpc>
              <a:buNone/>
            </a:pPr>
            <a:r>
              <a:rPr lang="en-US" sz="1050" dirty="0">
                <a:solidFill>
                  <a:srgbClr val="E7EDF2"/>
                </a:solidFill>
                <a:latin typeface="Calibri" pitchFamily="34" charset="0"/>
                <a:ea typeface="Calibri" pitchFamily="34" charset="-122"/>
                <a:cs typeface="Calibri" pitchFamily="34" charset="-120"/>
              </a:rPr>
              <a:t>Source code, deployment, dan dokumentasi diserahkan ke tim operasi</a:t>
            </a:r>
            <a:endParaRPr lang="en-US" sz="1050" dirty="0"/>
          </a:p>
        </p:txBody>
      </p:sp>
      <p:sp>
        <p:nvSpPr>
          <p:cNvPr id="10" name="Shape 8"/>
          <p:cNvSpPr/>
          <p:nvPr/>
        </p:nvSpPr>
        <p:spPr>
          <a:xfrm>
            <a:off x="6181344" y="1508760"/>
            <a:ext cx="2697480" cy="1554480"/>
          </a:xfrm>
          <a:prstGeom prst="roundRect">
            <a:avLst>
              <a:gd name="adj" fmla="val 4118"/>
            </a:avLst>
          </a:prstGeom>
          <a:solidFill>
            <a:srgbClr val="1B3A5C"/>
          </a:solidFill>
          <a:ln/>
        </p:spPr>
      </p:sp>
      <p:sp>
        <p:nvSpPr>
          <p:cNvPr id="11" name="Text 9"/>
          <p:cNvSpPr/>
          <p:nvPr/>
        </p:nvSpPr>
        <p:spPr>
          <a:xfrm>
            <a:off x="6345936" y="1664208"/>
            <a:ext cx="2377440" cy="365760"/>
          </a:xfrm>
          <a:prstGeom prst="rect">
            <a:avLst/>
          </a:prstGeom>
          <a:noFill/>
          <a:ln/>
        </p:spPr>
        <p:txBody>
          <a:bodyPr wrap="square" rtlCol="0" anchor="ctr"/>
          <a:lstStyle/>
          <a:p>
            <a:pPr indent="0" marL="0">
              <a:buNone/>
            </a:pPr>
            <a:r>
              <a:rPr lang="en-US" sz="1350" b="1" dirty="0">
                <a:solidFill>
                  <a:srgbClr val="E8912D"/>
                </a:solidFill>
                <a:latin typeface="Calibri" pitchFamily="34" charset="0"/>
                <a:ea typeface="Calibri" pitchFamily="34" charset="-122"/>
                <a:cs typeface="Calibri" pitchFamily="34" charset="-120"/>
              </a:rPr>
              <a:t>Finansial</a:t>
            </a:r>
            <a:endParaRPr lang="en-US" sz="1350" dirty="0"/>
          </a:p>
        </p:txBody>
      </p:sp>
      <p:sp>
        <p:nvSpPr>
          <p:cNvPr id="12" name="Text 10"/>
          <p:cNvSpPr/>
          <p:nvPr/>
        </p:nvSpPr>
        <p:spPr>
          <a:xfrm>
            <a:off x="6345936" y="2057400"/>
            <a:ext cx="2377440" cy="914400"/>
          </a:xfrm>
          <a:prstGeom prst="rect">
            <a:avLst/>
          </a:prstGeom>
          <a:noFill/>
          <a:ln/>
        </p:spPr>
        <p:txBody>
          <a:bodyPr wrap="square" rtlCol="0" anchor="ctr"/>
          <a:lstStyle/>
          <a:p>
            <a:pPr indent="0" marL="0">
              <a:lnSpc>
                <a:spcPts val="1300"/>
              </a:lnSpc>
              <a:buNone/>
            </a:pPr>
            <a:r>
              <a:rPr lang="en-US" sz="1050" dirty="0">
                <a:solidFill>
                  <a:srgbClr val="E7EDF2"/>
                </a:solidFill>
                <a:latin typeface="Calibri" pitchFamily="34" charset="0"/>
                <a:ea typeface="Calibri" pitchFamily="34" charset="-122"/>
                <a:cs typeface="Calibri" pitchFamily="34" charset="-120"/>
              </a:rPr>
              <a:t>Audit realisasi biaya &amp; pelunasan seluruh invoice vendor</a:t>
            </a:r>
            <a:endParaRPr lang="en-US" sz="1050" dirty="0"/>
          </a:p>
        </p:txBody>
      </p:sp>
      <p:sp>
        <p:nvSpPr>
          <p:cNvPr id="13" name="Shape 11"/>
          <p:cNvSpPr/>
          <p:nvPr/>
        </p:nvSpPr>
        <p:spPr>
          <a:xfrm>
            <a:off x="8997696" y="1508760"/>
            <a:ext cx="2697480" cy="1554480"/>
          </a:xfrm>
          <a:prstGeom prst="roundRect">
            <a:avLst>
              <a:gd name="adj" fmla="val 4118"/>
            </a:avLst>
          </a:prstGeom>
          <a:solidFill>
            <a:srgbClr val="1B3A5C"/>
          </a:solidFill>
          <a:ln/>
        </p:spPr>
      </p:sp>
      <p:sp>
        <p:nvSpPr>
          <p:cNvPr id="14" name="Text 12"/>
          <p:cNvSpPr/>
          <p:nvPr/>
        </p:nvSpPr>
        <p:spPr>
          <a:xfrm>
            <a:off x="9162288" y="1664208"/>
            <a:ext cx="2377440" cy="365760"/>
          </a:xfrm>
          <a:prstGeom prst="rect">
            <a:avLst/>
          </a:prstGeom>
          <a:noFill/>
          <a:ln/>
        </p:spPr>
        <p:txBody>
          <a:bodyPr wrap="square" rtlCol="0" anchor="ctr"/>
          <a:lstStyle/>
          <a:p>
            <a:pPr indent="0" marL="0">
              <a:buNone/>
            </a:pPr>
            <a:r>
              <a:rPr lang="en-US" sz="1350" b="1" dirty="0">
                <a:solidFill>
                  <a:srgbClr val="E8912D"/>
                </a:solidFill>
                <a:latin typeface="Calibri" pitchFamily="34" charset="0"/>
                <a:ea typeface="Calibri" pitchFamily="34" charset="-122"/>
                <a:cs typeface="Calibri" pitchFamily="34" charset="-120"/>
              </a:rPr>
              <a:t>SDM</a:t>
            </a:r>
            <a:endParaRPr lang="en-US" sz="1350" dirty="0"/>
          </a:p>
        </p:txBody>
      </p:sp>
      <p:sp>
        <p:nvSpPr>
          <p:cNvPr id="15" name="Text 13"/>
          <p:cNvSpPr/>
          <p:nvPr/>
        </p:nvSpPr>
        <p:spPr>
          <a:xfrm>
            <a:off x="9162288" y="2057400"/>
            <a:ext cx="2377440" cy="914400"/>
          </a:xfrm>
          <a:prstGeom prst="rect">
            <a:avLst/>
          </a:prstGeom>
          <a:noFill/>
          <a:ln/>
        </p:spPr>
        <p:txBody>
          <a:bodyPr wrap="square" rtlCol="0" anchor="ctr"/>
          <a:lstStyle/>
          <a:p>
            <a:pPr indent="0" marL="0">
              <a:lnSpc>
                <a:spcPts val="1300"/>
              </a:lnSpc>
              <a:buNone/>
            </a:pPr>
            <a:r>
              <a:rPr lang="en-US" sz="1050" dirty="0">
                <a:solidFill>
                  <a:srgbClr val="E7EDF2"/>
                </a:solidFill>
                <a:latin typeface="Calibri" pitchFamily="34" charset="0"/>
                <a:ea typeface="Calibri" pitchFamily="34" charset="-122"/>
                <a:cs typeface="Calibri" pitchFamily="34" charset="-120"/>
              </a:rPr>
              <a:t>Evaluasi tim, pembubaran tim proyek, dan lessons learned workshop</a:t>
            </a:r>
            <a:endParaRPr lang="en-US" sz="1050" dirty="0"/>
          </a:p>
        </p:txBody>
      </p:sp>
      <p:sp>
        <p:nvSpPr>
          <p:cNvPr id="16" name="Text 14"/>
          <p:cNvSpPr/>
          <p:nvPr/>
        </p:nvSpPr>
        <p:spPr>
          <a:xfrm>
            <a:off x="548640" y="3337560"/>
            <a:ext cx="54864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Rencana Pemeliharaan Pascaimplementasi</a:t>
            </a:r>
            <a:endParaRPr lang="en-US" sz="1400" dirty="0"/>
          </a:p>
        </p:txBody>
      </p:sp>
      <p:sp>
        <p:nvSpPr>
          <p:cNvPr id="17" name="Shape 15"/>
          <p:cNvSpPr/>
          <p:nvPr/>
        </p:nvSpPr>
        <p:spPr>
          <a:xfrm>
            <a:off x="548640" y="3749040"/>
            <a:ext cx="2651760" cy="868680"/>
          </a:xfrm>
          <a:prstGeom prst="roundRect">
            <a:avLst>
              <a:gd name="adj" fmla="val 6316"/>
            </a:avLst>
          </a:prstGeom>
          <a:solidFill>
            <a:srgbClr val="24486C"/>
          </a:solidFill>
          <a:ln/>
        </p:spPr>
      </p:sp>
      <p:sp>
        <p:nvSpPr>
          <p:cNvPr id="18" name="Text 16"/>
          <p:cNvSpPr/>
          <p:nvPr/>
        </p:nvSpPr>
        <p:spPr>
          <a:xfrm>
            <a:off x="685800" y="3840480"/>
            <a:ext cx="2377440" cy="274320"/>
          </a:xfrm>
          <a:prstGeom prst="rect">
            <a:avLst/>
          </a:prstGeom>
          <a:noFill/>
          <a:ln/>
        </p:spPr>
        <p:txBody>
          <a:bodyPr wrap="square" rtlCol="0" anchor="ctr"/>
          <a:lstStyle/>
          <a:p>
            <a:pPr indent="0" marL="0">
              <a:buNone/>
            </a:pPr>
            <a:r>
              <a:rPr lang="en-US" sz="1200" b="1" dirty="0">
                <a:solidFill>
                  <a:srgbClr val="E8912D"/>
                </a:solidFill>
                <a:latin typeface="Calibri" pitchFamily="34" charset="0"/>
                <a:ea typeface="Calibri" pitchFamily="34" charset="-122"/>
                <a:cs typeface="Calibri" pitchFamily="34" charset="-120"/>
              </a:rPr>
              <a:t>Kritis</a:t>
            </a:r>
            <a:endParaRPr lang="en-US" sz="1200" dirty="0"/>
          </a:p>
        </p:txBody>
      </p:sp>
      <p:sp>
        <p:nvSpPr>
          <p:cNvPr id="19" name="Text 17"/>
          <p:cNvSpPr/>
          <p:nvPr/>
        </p:nvSpPr>
        <p:spPr>
          <a:xfrm>
            <a:off x="685800" y="4114800"/>
            <a:ext cx="2377440" cy="457200"/>
          </a:xfrm>
          <a:prstGeom prst="rect">
            <a:avLst/>
          </a:prstGeom>
          <a:noFill/>
          <a:ln/>
        </p:spPr>
        <p:txBody>
          <a:bodyPr wrap="square" rtlCol="0" anchor="ctr"/>
          <a:lstStyle/>
          <a:p>
            <a:pPr indent="0" marL="0">
              <a:buNone/>
            </a:pPr>
            <a:r>
              <a:rPr lang="en-US" sz="1050" dirty="0">
                <a:solidFill>
                  <a:srgbClr val="E7EDF2"/>
                </a:solidFill>
                <a:latin typeface="Calibri" pitchFamily="34" charset="0"/>
                <a:ea typeface="Calibri" pitchFamily="34" charset="-122"/>
                <a:cs typeface="Calibri" pitchFamily="34" charset="-120"/>
              </a:rPr>
              <a:t>respons 2 jam, selesai 8 jam</a:t>
            </a:r>
            <a:endParaRPr lang="en-US" sz="1050" dirty="0"/>
          </a:p>
        </p:txBody>
      </p:sp>
      <p:sp>
        <p:nvSpPr>
          <p:cNvPr id="20" name="Shape 18"/>
          <p:cNvSpPr/>
          <p:nvPr/>
        </p:nvSpPr>
        <p:spPr>
          <a:xfrm>
            <a:off x="3364992" y="3749040"/>
            <a:ext cx="2651760" cy="868680"/>
          </a:xfrm>
          <a:prstGeom prst="roundRect">
            <a:avLst>
              <a:gd name="adj" fmla="val 6316"/>
            </a:avLst>
          </a:prstGeom>
          <a:solidFill>
            <a:srgbClr val="24486C"/>
          </a:solidFill>
          <a:ln/>
        </p:spPr>
      </p:sp>
      <p:sp>
        <p:nvSpPr>
          <p:cNvPr id="21" name="Text 19"/>
          <p:cNvSpPr/>
          <p:nvPr/>
        </p:nvSpPr>
        <p:spPr>
          <a:xfrm>
            <a:off x="3502152" y="3840480"/>
            <a:ext cx="2377440" cy="274320"/>
          </a:xfrm>
          <a:prstGeom prst="rect">
            <a:avLst/>
          </a:prstGeom>
          <a:noFill/>
          <a:ln/>
        </p:spPr>
        <p:txBody>
          <a:bodyPr wrap="square" rtlCol="0" anchor="ctr"/>
          <a:lstStyle/>
          <a:p>
            <a:pPr indent="0" marL="0">
              <a:buNone/>
            </a:pPr>
            <a:r>
              <a:rPr lang="en-US" sz="1200" b="1" dirty="0">
                <a:solidFill>
                  <a:srgbClr val="E8912D"/>
                </a:solidFill>
                <a:latin typeface="Calibri" pitchFamily="34" charset="0"/>
                <a:ea typeface="Calibri" pitchFamily="34" charset="-122"/>
                <a:cs typeface="Calibri" pitchFamily="34" charset="-120"/>
              </a:rPr>
              <a:t>Mayor</a:t>
            </a:r>
            <a:endParaRPr lang="en-US" sz="1200" dirty="0"/>
          </a:p>
        </p:txBody>
      </p:sp>
      <p:sp>
        <p:nvSpPr>
          <p:cNvPr id="22" name="Text 20"/>
          <p:cNvSpPr/>
          <p:nvPr/>
        </p:nvSpPr>
        <p:spPr>
          <a:xfrm>
            <a:off x="3502152" y="4114800"/>
            <a:ext cx="2377440" cy="457200"/>
          </a:xfrm>
          <a:prstGeom prst="rect">
            <a:avLst/>
          </a:prstGeom>
          <a:noFill/>
          <a:ln/>
        </p:spPr>
        <p:txBody>
          <a:bodyPr wrap="square" rtlCol="0" anchor="ctr"/>
          <a:lstStyle/>
          <a:p>
            <a:pPr indent="0" marL="0">
              <a:buNone/>
            </a:pPr>
            <a:r>
              <a:rPr lang="en-US" sz="1050" dirty="0">
                <a:solidFill>
                  <a:srgbClr val="E7EDF2"/>
                </a:solidFill>
                <a:latin typeface="Calibri" pitchFamily="34" charset="0"/>
                <a:ea typeface="Calibri" pitchFamily="34" charset="-122"/>
                <a:cs typeface="Calibri" pitchFamily="34" charset="-120"/>
              </a:rPr>
              <a:t>respons 8 jam, selesai 24 jam</a:t>
            </a:r>
            <a:endParaRPr lang="en-US" sz="1050" dirty="0"/>
          </a:p>
        </p:txBody>
      </p:sp>
      <p:sp>
        <p:nvSpPr>
          <p:cNvPr id="23" name="Shape 21"/>
          <p:cNvSpPr/>
          <p:nvPr/>
        </p:nvSpPr>
        <p:spPr>
          <a:xfrm>
            <a:off x="6181344" y="3749040"/>
            <a:ext cx="2651760" cy="868680"/>
          </a:xfrm>
          <a:prstGeom prst="roundRect">
            <a:avLst>
              <a:gd name="adj" fmla="val 6316"/>
            </a:avLst>
          </a:prstGeom>
          <a:solidFill>
            <a:srgbClr val="24486C"/>
          </a:solidFill>
          <a:ln/>
        </p:spPr>
      </p:sp>
      <p:sp>
        <p:nvSpPr>
          <p:cNvPr id="24" name="Text 22"/>
          <p:cNvSpPr/>
          <p:nvPr/>
        </p:nvSpPr>
        <p:spPr>
          <a:xfrm>
            <a:off x="6318504" y="3840480"/>
            <a:ext cx="2377440" cy="274320"/>
          </a:xfrm>
          <a:prstGeom prst="rect">
            <a:avLst/>
          </a:prstGeom>
          <a:noFill/>
          <a:ln/>
        </p:spPr>
        <p:txBody>
          <a:bodyPr wrap="square" rtlCol="0" anchor="ctr"/>
          <a:lstStyle/>
          <a:p>
            <a:pPr indent="0" marL="0">
              <a:buNone/>
            </a:pPr>
            <a:r>
              <a:rPr lang="en-US" sz="1200" b="1" dirty="0">
                <a:solidFill>
                  <a:srgbClr val="E8912D"/>
                </a:solidFill>
                <a:latin typeface="Calibri" pitchFamily="34" charset="0"/>
                <a:ea typeface="Calibri" pitchFamily="34" charset="-122"/>
                <a:cs typeface="Calibri" pitchFamily="34" charset="-120"/>
              </a:rPr>
              <a:t>Minor</a:t>
            </a:r>
            <a:endParaRPr lang="en-US" sz="1200" dirty="0"/>
          </a:p>
        </p:txBody>
      </p:sp>
      <p:sp>
        <p:nvSpPr>
          <p:cNvPr id="25" name="Text 23"/>
          <p:cNvSpPr/>
          <p:nvPr/>
        </p:nvSpPr>
        <p:spPr>
          <a:xfrm>
            <a:off x="6318504" y="4114800"/>
            <a:ext cx="2377440" cy="457200"/>
          </a:xfrm>
          <a:prstGeom prst="rect">
            <a:avLst/>
          </a:prstGeom>
          <a:noFill/>
          <a:ln/>
        </p:spPr>
        <p:txBody>
          <a:bodyPr wrap="square" rtlCol="0" anchor="ctr"/>
          <a:lstStyle/>
          <a:p>
            <a:pPr indent="0" marL="0">
              <a:buNone/>
            </a:pPr>
            <a:r>
              <a:rPr lang="en-US" sz="1050" dirty="0">
                <a:solidFill>
                  <a:srgbClr val="E7EDF2"/>
                </a:solidFill>
                <a:latin typeface="Calibri" pitchFamily="34" charset="0"/>
                <a:ea typeface="Calibri" pitchFamily="34" charset="-122"/>
                <a:cs typeface="Calibri" pitchFamily="34" charset="-120"/>
              </a:rPr>
              <a:t>respons 24 jam, selesai 5 hari</a:t>
            </a:r>
            <a:endParaRPr lang="en-US" sz="1050" dirty="0"/>
          </a:p>
        </p:txBody>
      </p:sp>
      <p:sp>
        <p:nvSpPr>
          <p:cNvPr id="26" name="Text 24"/>
          <p:cNvSpPr/>
          <p:nvPr/>
        </p:nvSpPr>
        <p:spPr>
          <a:xfrm>
            <a:off x="548640" y="4754880"/>
            <a:ext cx="8001000" cy="685800"/>
          </a:xfrm>
          <a:prstGeom prst="rect">
            <a:avLst/>
          </a:prstGeom>
          <a:noFill/>
          <a:ln/>
        </p:spPr>
        <p:txBody>
          <a:bodyPr wrap="square" rtlCol="0" anchor="ctr"/>
          <a:lstStyle/>
          <a:p>
            <a:pPr indent="0" marL="0">
              <a:lnSpc>
                <a:spcPts val="1500"/>
              </a:lnSpc>
              <a:buNone/>
            </a:pPr>
            <a:r>
              <a:rPr lang="en-US" sz="1150" i="1" dirty="0">
                <a:solidFill>
                  <a:srgbClr val="C9D4DD"/>
                </a:solidFill>
                <a:latin typeface="Calibri" pitchFamily="34" charset="0"/>
                <a:ea typeface="Calibri" pitchFamily="34" charset="-122"/>
                <a:cs typeface="Calibri" pitchFamily="34" charset="-120"/>
              </a:rPr>
              <a:t>Biaya pemeliharaan tahunan diestimasikan 15% dari anggaran (≈ Rp 375.000.000), mencakup tim dukungan, layanan cloud, dan penyempurnaan minor sistem.</a:t>
            </a:r>
            <a:endParaRPr lang="en-US" sz="1150" dirty="0"/>
          </a:p>
        </p:txBody>
      </p:sp>
      <p:sp>
        <p:nvSpPr>
          <p:cNvPr id="27" name="Shape 25"/>
          <p:cNvSpPr/>
          <p:nvPr/>
        </p:nvSpPr>
        <p:spPr>
          <a:xfrm>
            <a:off x="8915400" y="1508760"/>
            <a:ext cx="2724912" cy="3977640"/>
          </a:xfrm>
          <a:prstGeom prst="roundRect">
            <a:avLst>
              <a:gd name="adj" fmla="val 2685"/>
            </a:avLst>
          </a:prstGeom>
          <a:solidFill>
            <a:srgbClr val="E8912D"/>
          </a:solidFill>
          <a:ln/>
        </p:spPr>
      </p:sp>
      <p:sp>
        <p:nvSpPr>
          <p:cNvPr id="28" name="Text 26"/>
          <p:cNvSpPr/>
          <p:nvPr/>
        </p:nvSpPr>
        <p:spPr>
          <a:xfrm>
            <a:off x="9144000" y="1691640"/>
            <a:ext cx="2286000" cy="365760"/>
          </a:xfrm>
          <a:prstGeom prst="rect">
            <a:avLst/>
          </a:prstGeom>
          <a:noFill/>
          <a:ln/>
        </p:spPr>
        <p:txBody>
          <a:bodyPr wrap="square" rtlCol="0" anchor="ctr"/>
          <a:lstStyle/>
          <a:p>
            <a:pPr indent="0" marL="0">
              <a:buNone/>
            </a:pPr>
            <a:r>
              <a:rPr lang="en-US" sz="1400" b="1" dirty="0">
                <a:solidFill>
                  <a:srgbClr val="132A44"/>
                </a:solidFill>
                <a:latin typeface="Calibri" pitchFamily="34" charset="0"/>
                <a:ea typeface="Calibri" pitchFamily="34" charset="-122"/>
                <a:cs typeface="Calibri" pitchFamily="34" charset="-120"/>
              </a:rPr>
              <a:t>Kesimpulan</a:t>
            </a:r>
            <a:endParaRPr lang="en-US" sz="1400" dirty="0"/>
          </a:p>
        </p:txBody>
      </p:sp>
      <p:sp>
        <p:nvSpPr>
          <p:cNvPr id="29" name="Text 27"/>
          <p:cNvSpPr/>
          <p:nvPr/>
        </p:nvSpPr>
        <p:spPr>
          <a:xfrm>
            <a:off x="9144000" y="2148840"/>
            <a:ext cx="2286000" cy="3200400"/>
          </a:xfrm>
          <a:prstGeom prst="rect">
            <a:avLst/>
          </a:prstGeom>
          <a:noFill/>
          <a:ln/>
        </p:spPr>
        <p:txBody>
          <a:bodyPr wrap="square" rtlCol="0" anchor="ctr"/>
          <a:lstStyle/>
          <a:p>
            <a:pPr indent="0" marL="0">
              <a:lnSpc>
                <a:spcPts val="1600"/>
              </a:lnSpc>
              <a:buNone/>
            </a:pPr>
            <a:r>
              <a:rPr lang="en-US" sz="1150" dirty="0">
                <a:solidFill>
                  <a:srgbClr val="132A44"/>
                </a:solidFill>
                <a:latin typeface="Calibri" pitchFamily="34" charset="0"/>
                <a:ea typeface="Calibri" pitchFamily="34" charset="-122"/>
                <a:cs typeface="Calibri" pitchFamily="34" charset="-120"/>
              </a:rPr>
              <a:t>SIMProKon dirancang menyeluruh — dari perencanaan, penjadwalan, hingga pengendalian risiko dan biaya — sehingga siap mendukung tata kelola proyek konstruksi PT Bangun Cipta Nusantara secara terintegrasi, transparan, dan akurat.</a:t>
            </a:r>
            <a:endParaRPr lang="en-US" sz="1150" dirty="0"/>
          </a:p>
        </p:txBody>
      </p:sp>
      <p:sp>
        <p:nvSpPr>
          <p:cNvPr id="30" name="Text 2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FA0AD"/>
                </a:solidFill>
                <a:latin typeface="Calibri" pitchFamily="34" charset="0"/>
                <a:ea typeface="Calibri" pitchFamily="34" charset="-122"/>
                <a:cs typeface="Calibri" pitchFamily="34" charset="-120"/>
              </a:rPr>
              <a:t>Penutupan, Pemeliharaan &amp; Kesimpulan</a:t>
            </a:r>
            <a:endParaRPr lang="en-US" sz="900" dirty="0"/>
          </a:p>
        </p:txBody>
      </p:sp>
      <p:sp>
        <p:nvSpPr>
          <p:cNvPr id="31" name="Text 29"/>
          <p:cNvSpPr/>
          <p:nvPr/>
        </p:nvSpPr>
        <p:spPr>
          <a:xfrm>
            <a:off x="9262872" y="6473952"/>
            <a:ext cx="2468880" cy="274320"/>
          </a:xfrm>
          <a:prstGeom prst="rect">
            <a:avLst/>
          </a:prstGeom>
          <a:noFill/>
          <a:ln/>
        </p:spPr>
        <p:txBody>
          <a:bodyPr wrap="square" rtlCol="0" anchor="ctr"/>
          <a:lstStyle/>
          <a:p>
            <a:pPr algn="r" indent="0" marL="0">
              <a:buNone/>
            </a:pPr>
            <a:r>
              <a:rPr lang="en-US" sz="900" dirty="0">
                <a:solidFill>
                  <a:srgbClr val="8FA0AD"/>
                </a:solidFill>
                <a:latin typeface="Calibri" pitchFamily="34" charset="0"/>
                <a:ea typeface="Calibri" pitchFamily="34" charset="-122"/>
                <a:cs typeface="Calibri" pitchFamily="34" charset="-120"/>
              </a:rPr>
              <a:t>SIMProKon  •  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2026-07-22T11:50:18Z</dcterms:created>
  <dcterms:modified xsi:type="dcterms:W3CDTF">2026-07-22T11:50:18Z</dcterms:modified>
</cp:coreProperties>
</file>